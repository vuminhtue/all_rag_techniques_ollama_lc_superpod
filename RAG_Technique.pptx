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39"/>
  </p:notesMasterIdLst>
  <p:handoutMasterIdLst>
    <p:handoutMasterId r:id="rId40"/>
  </p:handoutMasterIdLst>
  <p:sldIdLst>
    <p:sldId id="256" r:id="rId5"/>
    <p:sldId id="257" r:id="rId6"/>
    <p:sldId id="1509" r:id="rId7"/>
    <p:sldId id="1510" r:id="rId8"/>
    <p:sldId id="260" r:id="rId9"/>
    <p:sldId id="1511" r:id="rId10"/>
    <p:sldId id="263" r:id="rId11"/>
    <p:sldId id="1512" r:id="rId12"/>
    <p:sldId id="1513" r:id="rId13"/>
    <p:sldId id="1514" r:id="rId14"/>
    <p:sldId id="1516" r:id="rId15"/>
    <p:sldId id="1526" r:id="rId16"/>
    <p:sldId id="1517" r:id="rId17"/>
    <p:sldId id="1518" r:id="rId18"/>
    <p:sldId id="1539" r:id="rId19"/>
    <p:sldId id="1525" r:id="rId20"/>
    <p:sldId id="1515" r:id="rId21"/>
    <p:sldId id="1522" r:id="rId22"/>
    <p:sldId id="1523" r:id="rId23"/>
    <p:sldId id="1524" r:id="rId24"/>
    <p:sldId id="1527" r:id="rId25"/>
    <p:sldId id="1528" r:id="rId26"/>
    <p:sldId id="1519" r:id="rId27"/>
    <p:sldId id="1529" r:id="rId28"/>
    <p:sldId id="1530" r:id="rId29"/>
    <p:sldId id="1531" r:id="rId30"/>
    <p:sldId id="1532" r:id="rId31"/>
    <p:sldId id="1533" r:id="rId32"/>
    <p:sldId id="1534" r:id="rId33"/>
    <p:sldId id="1535" r:id="rId34"/>
    <p:sldId id="1536" r:id="rId35"/>
    <p:sldId id="1520" r:id="rId36"/>
    <p:sldId id="1537" r:id="rId37"/>
    <p:sldId id="1538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02" autoAdjust="0"/>
    <p:restoredTop sz="93254" autoAdjust="0"/>
  </p:normalViewPr>
  <p:slideViewPr>
    <p:cSldViewPr snapToGrid="0">
      <p:cViewPr varScale="1">
        <p:scale>
          <a:sx n="154" d="100"/>
          <a:sy n="154" d="100"/>
        </p:scale>
        <p:origin x="112" y="1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972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2/20/2026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2/20/2026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3266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313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CF940F-EAD0-24AD-9454-3B76D6685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0DE634-AE01-89A8-F277-CB06A2970C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8FAD0B-D207-22DD-1F2D-47C5A1C461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B20C9D-AF1F-5186-4F7B-052F0B423E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0954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51634-D782-2326-D8B9-BF3567B5E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6E0FAD-30DD-9190-7BA6-2D9492B5C0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D5EF02-BC1E-0B22-F10A-DE860AD9E4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614B17-E500-A40D-19C4-0F44A8767A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65883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6F992-8A51-7255-C9B2-36A60F975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AD0527-676D-4BE7-CE85-B2B99F0382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71D6F5-C6C1-650C-D1C0-DCE3093759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D3EB5E-81A2-E778-11DA-30FE7A3460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76232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548642"/>
            <a:ext cx="7478991" cy="3635797"/>
          </a:xfrm>
        </p:spPr>
        <p:txBody>
          <a:bodyPr anchor="t">
            <a:normAutofit/>
          </a:bodyPr>
          <a:lstStyle>
            <a:lvl1pPr algn="l">
              <a:defRPr sz="7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73553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7B902-09B5-4324-8310-59625360F035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12964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008" y="854239"/>
            <a:ext cx="7876287" cy="3592629"/>
          </a:xfrm>
        </p:spPr>
        <p:txBody>
          <a:bodyPr anchor="b">
            <a:normAutofit/>
          </a:bodyPr>
          <a:lstStyle>
            <a:lvl1pPr algn="l"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8368" y="4617138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B91A11-88E2-4BD0-90A5-503C684B9CC0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79543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19A73-9EF0-435E-951F-A4ACE59FBD85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04959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 anchor="b">
            <a:normAutofit/>
          </a:bodyPr>
          <a:lstStyle>
            <a:lvl1pPr algn="l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29"/>
            <a:ext cx="11460480" cy="480373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72BE8CE-6011-4887-8688-8D57691F11AD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7685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8896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68897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68895" y="645300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86426EA-0386-4881-8D6D-3F08C95C4A7F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87511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411480"/>
            <a:ext cx="4654296" cy="3739896"/>
          </a:xfrm>
        </p:spPr>
        <p:txBody>
          <a:bodyPr anchor="t">
            <a:normAutofit/>
          </a:bodyPr>
          <a:lstStyle>
            <a:lvl1pPr algn="l">
              <a:defRPr sz="5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7160" y="6453002"/>
            <a:ext cx="1951777" cy="365125"/>
          </a:xfrm>
        </p:spPr>
        <p:txBody>
          <a:bodyPr/>
          <a:lstStyle/>
          <a:p>
            <a:fld id="{1FE1A989-42EF-40B2-87AB-6941C231CD4A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53002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844578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20672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4320" y="1801368"/>
            <a:ext cx="7772400" cy="4572000"/>
          </a:xfrm>
        </p:spPr>
        <p:txBody>
          <a:bodyPr anchor="b">
            <a:normAutofit/>
          </a:bodyPr>
          <a:lstStyle>
            <a:lvl1pPr algn="l">
              <a:defRPr sz="7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2A7A0-B9EE-41A8-8016-28E5803F20B2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880959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4320" y="1801368"/>
            <a:ext cx="7772400" cy="4572000"/>
          </a:xfrm>
        </p:spPr>
        <p:txBody>
          <a:bodyPr anchor="b">
            <a:normAutofit/>
          </a:bodyPr>
          <a:lstStyle>
            <a:lvl1pPr algn="l">
              <a:defRPr sz="7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5176" y="484632"/>
            <a:ext cx="7772400" cy="59436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2A7A0-B9EE-41A8-8016-28E5803F20B2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22793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64108"/>
            <a:ext cx="8467558" cy="155448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333860"/>
            <a:ext cx="8467558" cy="368990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400"/>
            </a:lvl1pPr>
            <a:lvl2pPr marL="685800" indent="-457200">
              <a:buFont typeface="+mj-lt"/>
              <a:buAutoNum type="arabicPeriod"/>
              <a:defRPr sz="2000"/>
            </a:lvl2pPr>
            <a:lvl3pPr marL="800100" indent="-342900">
              <a:buFont typeface="+mj-lt"/>
              <a:buAutoNum type="arabicPeriod"/>
              <a:defRPr sz="1800"/>
            </a:lvl3pPr>
            <a:lvl4pPr marL="1028700" indent="-342900">
              <a:buFont typeface="+mj-lt"/>
              <a:buAutoNum type="arabicPeriod"/>
              <a:defRPr sz="16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60B404-9532-4DA8-8A40-EC339A5BE635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72081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0" y="1161288"/>
            <a:ext cx="4663440" cy="155448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58000" y="2825496"/>
            <a:ext cx="4663440" cy="3337560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57999" y="6453002"/>
            <a:ext cx="1996689" cy="365125"/>
          </a:xfrm>
        </p:spPr>
        <p:txBody>
          <a:bodyPr/>
          <a:lstStyle/>
          <a:p>
            <a:fld id="{8A60B404-9532-4DA8-8A40-EC339A5BE635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75268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" y="151598"/>
            <a:ext cx="11924209" cy="528186"/>
          </a:xfrm>
        </p:spPr>
        <p:txBody>
          <a:bodyPr anchor="ctr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" y="776036"/>
            <a:ext cx="11924209" cy="56769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6A364-A39C-470E-B89A-9BD899585684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51269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Only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-1325880"/>
            <a:ext cx="10515600" cy="1325880"/>
          </a:xfrm>
        </p:spPr>
        <p:txBody>
          <a:bodyPr anchor="ctr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" y="367091"/>
            <a:ext cx="11924209" cy="61238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1C69CE-4771-4BFA-AD70-0E51ABA58D6D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86518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E4242-8CA0-457D-B3B1-7D78B4164321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12030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385975"/>
            <a:ext cx="4325112" cy="245479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D6F41-6645-4089-A6BB-7B692A44A4CC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87418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258568"/>
            <a:ext cx="3813048" cy="355701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8B73AF-3955-4569-8B4F-B329360A9CBD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756409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537853"/>
            <a:ext cx="4145582" cy="46388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5276D-BBED-48BC-B459-1E9A16CF46CD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45867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877456"/>
            <a:ext cx="4142232" cy="4940661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38C57-8E3B-4697-92F8-0ED9B71F7E17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47116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548639"/>
            <a:ext cx="3494314" cy="5719639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549274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DC593-EA98-4C39-A75F-3F3A9C691019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661222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8937" y="548640"/>
            <a:ext cx="6093225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38937" y="1828800"/>
            <a:ext cx="6071616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538937" y="6453002"/>
            <a:ext cx="3337584" cy="365125"/>
          </a:xfrm>
        </p:spPr>
        <p:txBody>
          <a:bodyPr/>
          <a:lstStyle/>
          <a:p>
            <a:fld id="{8FACD271-2BB0-4C13-9E3A-50B90F57CA5B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74929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182880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9C4109C0-CC82-467C-B6E8-62D4D3634E2A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6453002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706232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140470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5736" y="320040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45736" y="1380744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745736" y="6453002"/>
            <a:ext cx="3494314" cy="365125"/>
          </a:xfrm>
        </p:spPr>
        <p:txBody>
          <a:bodyPr/>
          <a:lstStyle/>
          <a:p>
            <a:fld id="{1A5F77D0-C28E-4573-88F0-0A30FF98888E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321719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320040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380744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D1F1191D-5EC4-40DF-9DB6-A6385AB88B55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6453002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1976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3808" y="584339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53745" y="2212975"/>
            <a:ext cx="4362450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453002"/>
            <a:ext cx="1622776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E468DAA-49F6-4492-82E6-75555EB31418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734474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3413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4360863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2031073" cy="365125"/>
          </a:xfrm>
        </p:spPr>
        <p:txBody>
          <a:bodyPr/>
          <a:lstStyle/>
          <a:p>
            <a:fld id="{41D22668-A3AE-429F-A351-A1583BA90793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18008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4553" y="320040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04888" y="1380744"/>
            <a:ext cx="4512601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04491" y="6453002"/>
            <a:ext cx="177202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B3A2E2B-8F4D-437C-9F55-5E913AFC716A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121593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20040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1380744"/>
            <a:ext cx="4572000" cy="4983480"/>
          </a:xfrm>
        </p:spPr>
        <p:txBody>
          <a:bodyPr/>
          <a:lstStyle>
            <a:lvl1pPr marL="0" indent="0">
              <a:buNone/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2031073" cy="365125"/>
          </a:xfrm>
        </p:spPr>
        <p:txBody>
          <a:bodyPr/>
          <a:lstStyle/>
          <a:p>
            <a:fld id="{46C70014-48FC-4647-9615-BBD39F98887D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18207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2663" y="583413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12790" y="2212975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212663" y="6453002"/>
            <a:ext cx="922372" cy="365125"/>
          </a:xfrm>
        </p:spPr>
        <p:txBody>
          <a:bodyPr/>
          <a:lstStyle/>
          <a:p>
            <a:fld id="{C089F4EF-3CDF-46D7-ADF4-3A52C84FD8BE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9135035" y="6453002"/>
            <a:ext cx="2546891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078269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3413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1067625" cy="365125"/>
          </a:xfrm>
        </p:spPr>
        <p:txBody>
          <a:bodyPr/>
          <a:lstStyle/>
          <a:p>
            <a:fld id="{E635C43F-DBB1-4D83-B442-E1529AA900C2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04785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60426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153323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3102" y="1078992"/>
            <a:ext cx="3273552" cy="1942773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44096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3102" y="6453002"/>
            <a:ext cx="100365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2D13F81E-C5BD-4314-B9B9-AAE2702F29D2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46761" y="6453002"/>
            <a:ext cx="233516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673470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01226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8C146-0A20-4029-98D5-9A42EEDF8B24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501226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288879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12A2F-57DF-45DA-A7E9-678FD33267B9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591928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079730"/>
            <a:ext cx="12192000" cy="377827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59778"/>
            <a:ext cx="3494314" cy="365125"/>
          </a:xfrm>
        </p:spPr>
        <p:txBody>
          <a:bodyPr/>
          <a:lstStyle/>
          <a:p>
            <a:fld id="{9128053F-E531-4885-B604-CF1A6DEEE405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59778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5977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768102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03504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12645" y="1828800"/>
            <a:ext cx="6172200" cy="4425696"/>
          </a:xfrm>
          <a:blipFill dpi="0" rotWithShape="1">
            <a:blip r:embed="rId2" cstate="print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27395" y="1828800"/>
            <a:ext cx="4251960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6791B-F730-470C-BD5E-FFF8D449589F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976790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39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12648" y="2290890"/>
            <a:ext cx="4672584" cy="4041648"/>
          </a:xfrm>
          <a:blipFill dpi="0" rotWithShape="1">
            <a:blip r:embed="rId2" cstate="print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73FE0C-303A-49D2-B22C-9FE8AE7D9EF1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46012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550217"/>
            <a:ext cx="3657603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521" y="2295144"/>
            <a:ext cx="3490176" cy="4041648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16500" y="549275"/>
            <a:ext cx="6561138" cy="5759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859A7-84EB-4384-87AF-59CC16704CF8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380775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496" y="566928"/>
            <a:ext cx="10826496" cy="4334256"/>
          </a:xfrm>
        </p:spPr>
        <p:txBody>
          <a:bodyPr anchor="b">
            <a:normAutofit/>
          </a:bodyPr>
          <a:lstStyle>
            <a:lvl1pPr algn="l">
              <a:defRPr sz="232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4944" y="4718304"/>
            <a:ext cx="5897880" cy="1353312"/>
          </a:xfrm>
        </p:spPr>
        <p:txBody>
          <a:bodyPr anchor="t">
            <a:normAutofit/>
          </a:bodyPr>
          <a:lstStyle>
            <a:lvl1pPr marL="0" indent="0" algn="l">
              <a:buNone/>
              <a:defRPr sz="2800" cap="none" baseline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D3D17-73C9-402C-91E7-BA73E6829C50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44685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22960" y="603504"/>
            <a:ext cx="10543032" cy="4206240"/>
          </a:xfrm>
        </p:spPr>
        <p:txBody>
          <a:bodyPr anchor="b">
            <a:normAutofit/>
          </a:bodyPr>
          <a:lstStyle>
            <a:lvl1pPr algn="ctr">
              <a:defRPr sz="232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77440" y="4809744"/>
            <a:ext cx="7525512" cy="1545336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 cap="none" baseline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7A7CDD-9512-40CC-9351-FC0DE186CFBD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17601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93814EA-F598-EBFD-83D1-6782D7CBB59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22960" y="603504"/>
            <a:ext cx="10543032" cy="4206240"/>
          </a:xfrm>
        </p:spPr>
        <p:txBody>
          <a:bodyPr anchor="b">
            <a:normAutofit/>
          </a:bodyPr>
          <a:lstStyle>
            <a:lvl1pPr algn="ctr">
              <a:defRPr sz="2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77440" y="4809744"/>
            <a:ext cx="7525512" cy="1545336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 cap="none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83EFCC7-B7E8-4ABE-BBCB-C75FD27800CD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20964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735E4-737B-43D4-B991-92C3D63DE68F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6" cy="560527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7831385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99616" y="1188720"/>
            <a:ext cx="9198864" cy="3657600"/>
          </a:xfrm>
        </p:spPr>
        <p:txBody>
          <a:bodyPr anchor="ctr">
            <a:normAutofit/>
          </a:bodyPr>
          <a:lstStyle>
            <a:lvl1pPr marL="137160" indent="-137160" algn="l">
              <a:lnSpc>
                <a:spcPct val="100000"/>
              </a:lnSpc>
              <a:defRPr sz="4000" b="0"/>
            </a:lvl1pPr>
          </a:lstStyle>
          <a:p>
            <a:r>
              <a:rPr lang="en-US" dirty="0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654972" y="5428752"/>
            <a:ext cx="9043508" cy="466344"/>
          </a:xfrm>
        </p:spPr>
        <p:txBody>
          <a:bodyPr anchor="ctr">
            <a:normAutofit/>
          </a:bodyPr>
          <a:lstStyle>
            <a:lvl1pPr marL="0" indent="0" algn="l">
              <a:buNone/>
              <a:defRPr sz="22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3035D-22A0-4334-A9AE-2457016C8B47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9565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CE66BBE-3119-84C9-214F-FCCB3DF5A6F1}"/>
              </a:ext>
            </a:extLst>
          </p:cNvPr>
          <p:cNvSpPr/>
          <p:nvPr userDrawn="1"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rmAutofit/>
          </a:bodyPr>
          <a:lstStyle>
            <a:lvl1pPr marL="137160" indent="-137160" algn="l">
              <a:lnSpc>
                <a:spcPct val="100000"/>
              </a:lnSpc>
              <a:defRPr sz="4000" b="0"/>
            </a:lvl1pPr>
          </a:lstStyle>
          <a:p>
            <a:r>
              <a:rPr lang="en-US" dirty="0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655064" y="5349240"/>
            <a:ext cx="9043416" cy="466344"/>
          </a:xfrm>
        </p:spPr>
        <p:txBody>
          <a:bodyPr anchor="ctr">
            <a:normAutofit/>
          </a:bodyPr>
          <a:lstStyle>
            <a:lvl1pPr marL="0" indent="0" algn="l">
              <a:buNone/>
              <a:defRPr sz="2200" b="1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47CA6-BC1D-429A-A289-4E939E49554A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93244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12648" y="1234440"/>
            <a:ext cx="8961120" cy="3169920"/>
          </a:xfrm>
        </p:spPr>
        <p:txBody>
          <a:bodyPr anchor="ctr">
            <a:normAutofit/>
          </a:bodyPr>
          <a:lstStyle>
            <a:lvl1pPr marL="137160" indent="-137160" algn="l">
              <a:lnSpc>
                <a:spcPct val="100000"/>
              </a:lnSpc>
              <a:defRPr sz="4400" b="0"/>
            </a:lvl1pPr>
          </a:lstStyle>
          <a:p>
            <a:r>
              <a:rPr lang="en-US" dirty="0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66651" y="5669280"/>
            <a:ext cx="8807117" cy="466344"/>
          </a:xfrm>
        </p:spPr>
        <p:txBody>
          <a:bodyPr anchor="ctr">
            <a:normAutofit/>
          </a:bodyPr>
          <a:lstStyle>
            <a:lvl1pPr marL="0" indent="0" algn="l">
              <a:buNone/>
              <a:defRPr sz="22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418BD-2BA9-41CB-AB89-625779A7563D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86029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775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65B10-D26A-480A-9509-A9831C5E60D8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708349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9600" y="2387600"/>
            <a:ext cx="51577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2387600"/>
            <a:ext cx="51831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CB42A-67CE-499B-A4FA-7D4E4469B142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825818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9E5040-F7E0-40EC-B8E9-CED28200FAA3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496913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FF128-BAC7-4E0D-8F77-28A571D93B6F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917458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311121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5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DB3EA1-DD0C-4B8D-8364-52024B4530F1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659907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557784"/>
            <a:ext cx="6519080" cy="5779007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57344-9CC7-412D-8C20-072BE86D5A11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9021619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6" y="1847088"/>
            <a:ext cx="7342307" cy="1133856"/>
          </a:xfrm>
        </p:spPr>
        <p:txBody>
          <a:bodyPr anchor="b">
            <a:no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5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987AA-E4E6-4FC1-BAD8-09A952212C58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6628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627318"/>
            <a:ext cx="8430767" cy="1842020"/>
          </a:xfrm>
        </p:spPr>
        <p:txBody>
          <a:bodyPr anchor="b">
            <a:no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2400"/>
            </a:lvl1pPr>
            <a:lvl2pPr marL="228600" indent="0">
              <a:buNone/>
              <a:defRPr sz="2000"/>
            </a:lvl2pPr>
            <a:lvl3pPr marL="457200" indent="0">
              <a:buNone/>
              <a:defRPr sz="1800"/>
            </a:lvl3pPr>
            <a:lvl4pPr marL="685800" indent="0">
              <a:buNone/>
              <a:defRPr sz="16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3CF65F-0E21-48DE-8D75-4BF66A547E8E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8531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D291CE83-67BA-4B15-B48A-7DC5C0636664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0288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5" r:id="rId2"/>
    <p:sldLayoutId id="2147483661" r:id="rId3"/>
    <p:sldLayoutId id="2147483712" r:id="rId4"/>
    <p:sldLayoutId id="2147483698" r:id="rId5"/>
    <p:sldLayoutId id="2147483728" r:id="rId6"/>
    <p:sldLayoutId id="2147483735" r:id="rId7"/>
    <p:sldLayoutId id="2147483758" r:id="rId8"/>
    <p:sldLayoutId id="2147483710" r:id="rId9"/>
    <p:sldLayoutId id="2147483755" r:id="rId10"/>
    <p:sldLayoutId id="2147483713" r:id="rId11"/>
    <p:sldLayoutId id="2147483729" r:id="rId12"/>
    <p:sldLayoutId id="2147483662" r:id="rId13"/>
    <p:sldLayoutId id="2147483679" r:id="rId14"/>
    <p:sldLayoutId id="2147483680" r:id="rId15"/>
    <p:sldLayoutId id="2147483681" r:id="rId16"/>
    <p:sldLayoutId id="2147483682" r:id="rId17"/>
    <p:sldLayoutId id="2147483706" r:id="rId18"/>
    <p:sldLayoutId id="2147483689" r:id="rId19"/>
    <p:sldLayoutId id="2147483690" r:id="rId20"/>
    <p:sldLayoutId id="2147483707" r:id="rId21"/>
    <p:sldLayoutId id="2147483708" r:id="rId22"/>
    <p:sldLayoutId id="2147483692" r:id="rId23"/>
    <p:sldLayoutId id="2147483691" r:id="rId24"/>
    <p:sldLayoutId id="2147483732" r:id="rId25"/>
    <p:sldLayoutId id="2147483733" r:id="rId26"/>
    <p:sldLayoutId id="2147483731" r:id="rId27"/>
    <p:sldLayoutId id="2147483730" r:id="rId28"/>
    <p:sldLayoutId id="2147483694" r:id="rId29"/>
    <p:sldLayoutId id="2147483726" r:id="rId30"/>
    <p:sldLayoutId id="2147483693" r:id="rId31"/>
    <p:sldLayoutId id="2147483711" r:id="rId32"/>
    <p:sldLayoutId id="2147483672" r:id="rId33"/>
    <p:sldLayoutId id="2147483673" r:id="rId34"/>
    <p:sldLayoutId id="2147483696" r:id="rId35"/>
    <p:sldLayoutId id="2147483752" r:id="rId36"/>
    <p:sldLayoutId id="2147483754" r:id="rId37"/>
    <p:sldLayoutId id="2147483753" r:id="rId38"/>
    <p:sldLayoutId id="2147483750" r:id="rId39"/>
    <p:sldLayoutId id="2147483742" r:id="rId40"/>
    <p:sldLayoutId id="2147483743" r:id="rId41"/>
    <p:sldLayoutId id="2147483740" r:id="rId42"/>
    <p:sldLayoutId id="2147483664" r:id="rId43"/>
    <p:sldLayoutId id="2147483665" r:id="rId44"/>
    <p:sldLayoutId id="2147483666" r:id="rId45"/>
    <p:sldLayoutId id="2147483667" r:id="rId46"/>
    <p:sldLayoutId id="2147483668" r:id="rId47"/>
    <p:sldLayoutId id="2147483669" r:id="rId48"/>
    <p:sldLayoutId id="2147483685" r:id="rId49"/>
    <p:sldLayoutId id="2147483687" r:id="rId50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41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1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2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26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3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6D321A2-65AC-4C18-CA75-0FB5084CA3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411480"/>
            <a:ext cx="4654296" cy="1810388"/>
          </a:xfrm>
        </p:spPr>
        <p:txBody>
          <a:bodyPr/>
          <a:lstStyle/>
          <a:p>
            <a:r>
              <a:rPr lang="en-US" dirty="0"/>
              <a:t>RAG</a:t>
            </a:r>
            <a:br>
              <a:rPr lang="en-US" dirty="0"/>
            </a:br>
            <a:r>
              <a:rPr lang="en-US" dirty="0"/>
              <a:t>Advanced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02FA3257-663D-61CE-A5D5-22B53DB714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4873752"/>
            <a:ext cx="4206240" cy="1380744"/>
          </a:xfrm>
        </p:spPr>
        <p:txBody>
          <a:bodyPr/>
          <a:lstStyle/>
          <a:p>
            <a:r>
              <a:rPr lang="en-US" dirty="0"/>
              <a:t>Presented by </a:t>
            </a:r>
            <a:r>
              <a:rPr lang="en-US" b="1" dirty="0"/>
              <a:t>Tue Vu</a:t>
            </a:r>
            <a:r>
              <a:rPr lang="en-US" dirty="0"/>
              <a:t>, PhD</a:t>
            </a:r>
          </a:p>
          <a:p>
            <a:r>
              <a:rPr lang="en-US" b="1" i="1" dirty="0"/>
              <a:t>AI/ML Research Scientist </a:t>
            </a:r>
          </a:p>
          <a:p>
            <a:r>
              <a:rPr lang="en-US" b="1" i="1" dirty="0"/>
              <a:t>SMU OIT Research Tech. Service</a:t>
            </a:r>
          </a:p>
        </p:txBody>
      </p:sp>
      <p:pic>
        <p:nvPicPr>
          <p:cNvPr id="7" name="Picture Placeholder 6" descr="A group of houses with red roofs">
            <a:extLst>
              <a:ext uri="{FF2B5EF4-FFF2-40B4-BE49-F238E27FC236}">
                <a16:creationId xmlns:a16="http://schemas.microsoft.com/office/drawing/2014/main" id="{AA6BCCFE-82B9-38D9-8EAD-75148B80BD8F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596128" y="0"/>
            <a:ext cx="6595872" cy="6858000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6A075DA-9506-CECD-7CD5-757F1C8A38FE}"/>
              </a:ext>
            </a:extLst>
          </p:cNvPr>
          <p:cNvSpPr txBox="1"/>
          <p:nvPr/>
        </p:nvSpPr>
        <p:spPr>
          <a:xfrm>
            <a:off x="724072" y="3024554"/>
            <a:ext cx="3825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Ollama + </a:t>
            </a:r>
            <a:r>
              <a:rPr lang="en-US" b="1" dirty="0" err="1"/>
              <a:t>Langchain</a:t>
            </a:r>
            <a:r>
              <a:rPr lang="en-US" b="1" dirty="0"/>
              <a:t> + </a:t>
            </a:r>
            <a:r>
              <a:rPr lang="en-US" b="1" dirty="0" err="1"/>
              <a:t>SuperPOD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0699655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255C6-1E2E-E4BD-2E9F-B3321C22A2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64108"/>
            <a:ext cx="8467558" cy="1554480"/>
          </a:xfrm>
        </p:spPr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2C04E6-B771-F1FA-85F4-B7984DE55A8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333860"/>
            <a:ext cx="8467558" cy="3689909"/>
          </a:xfrm>
        </p:spPr>
        <p:txBody>
          <a:bodyPr>
            <a:normAutofit/>
          </a:bodyPr>
          <a:lstStyle/>
          <a:p>
            <a:r>
              <a:rPr lang="en-US" dirty="0"/>
              <a:t>Introduction to RAG</a:t>
            </a:r>
          </a:p>
          <a:p>
            <a:r>
              <a:rPr lang="en-US" dirty="0"/>
              <a:t>Why need RAG Advanced</a:t>
            </a:r>
          </a:p>
          <a:p>
            <a:r>
              <a:rPr lang="en-US" dirty="0"/>
              <a:t>Why Ollama + </a:t>
            </a:r>
            <a:r>
              <a:rPr lang="en-US" dirty="0" err="1"/>
              <a:t>Langchain</a:t>
            </a:r>
            <a:r>
              <a:rPr lang="en-US" dirty="0"/>
              <a:t> + </a:t>
            </a:r>
            <a:r>
              <a:rPr lang="en-US" dirty="0" err="1"/>
              <a:t>SuperPOD</a:t>
            </a:r>
            <a:endParaRPr lang="en-US" dirty="0"/>
          </a:p>
          <a:p>
            <a:r>
              <a:rPr lang="en-US" dirty="0"/>
              <a:t>Hands-on</a:t>
            </a:r>
          </a:p>
          <a:p>
            <a:r>
              <a:rPr lang="en-US" dirty="0"/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4216523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144A5-0283-F980-85F3-EE51746FC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385359-5FD3-D5C8-1467-F7082543AA4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1380744"/>
            <a:ext cx="9354600" cy="4983480"/>
          </a:xfrm>
        </p:spPr>
        <p:txBody>
          <a:bodyPr>
            <a:noAutofit/>
          </a:bodyPr>
          <a:lstStyle/>
          <a:p>
            <a:pPr marL="342900" indent="-342900" algn="l" rtl="0" fontAlgn="base">
              <a:lnSpc>
                <a:spcPts val="3375"/>
              </a:lnSpc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RAG helps LLM to avoid Hallucination from out of corpus training</a:t>
            </a:r>
          </a:p>
          <a:p>
            <a:pPr marL="342900" indent="-342900" algn="l" rtl="0" fontAlgn="base">
              <a:lnSpc>
                <a:spcPts val="3375"/>
              </a:lnSpc>
              <a:buFontTx/>
              <a:buChar char="-"/>
            </a:pPr>
            <a:r>
              <a:rPr lang="en-US" b="0" i="0" dirty="0">
                <a:solidFill>
                  <a:srgbClr val="000000"/>
                </a:solidFill>
                <a:effectLst/>
              </a:rPr>
              <a:t>RAG helps LLM to focus and response fast</a:t>
            </a:r>
          </a:p>
          <a:p>
            <a:pPr marL="342900" indent="-342900" algn="l" rtl="0" fontAlgn="base">
              <a:lnSpc>
                <a:spcPts val="3375"/>
              </a:lnSpc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RAG has been used in multiple documents search</a:t>
            </a:r>
            <a:endParaRPr lang="en-US" b="0" i="0" dirty="0">
              <a:solidFill>
                <a:srgbClr val="000000"/>
              </a:solidFill>
              <a:effectLst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3AF89CA-EAAA-2ED6-AA53-6E94653DFF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310" y="3352534"/>
            <a:ext cx="11112098" cy="3139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34500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hinny gold metal plates against a server farm">
            <a:extLst>
              <a:ext uri="{FF2B5EF4-FFF2-40B4-BE49-F238E27FC236}">
                <a16:creationId xmlns:a16="http://schemas.microsoft.com/office/drawing/2014/main" id="{A324C9D7-E633-25CE-8DE8-D13774A3EA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3083" y="4405611"/>
            <a:ext cx="6352674" cy="21142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OLLAMA at local machine. Ollama — large language models ...">
            <a:extLst>
              <a:ext uri="{FF2B5EF4-FFF2-40B4-BE49-F238E27FC236}">
                <a16:creationId xmlns:a16="http://schemas.microsoft.com/office/drawing/2014/main" id="{75E09C59-7FF9-21DB-BE83-4545F8B9CE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9635" y="306355"/>
            <a:ext cx="3059768" cy="10556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LangChain v1 is now generally available! | Microsoft Community Hub">
            <a:extLst>
              <a:ext uri="{FF2B5EF4-FFF2-40B4-BE49-F238E27FC236}">
                <a16:creationId xmlns:a16="http://schemas.microsoft.com/office/drawing/2014/main" id="{345CAA23-2E0A-1728-69F7-3CD7BDD917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2573" y="2242536"/>
            <a:ext cx="2675824" cy="1282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3D9AD9F-2257-1811-9BA7-3530D022CC44}"/>
              </a:ext>
            </a:extLst>
          </p:cNvPr>
          <p:cNvSpPr txBox="1"/>
          <p:nvPr/>
        </p:nvSpPr>
        <p:spPr>
          <a:xfrm>
            <a:off x="8424065" y="471681"/>
            <a:ext cx="30245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Open-source LLMs</a:t>
            </a:r>
          </a:p>
          <a:p>
            <a:r>
              <a:rPr lang="en-US" dirty="0"/>
              <a:t>Open-source Embeddings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155060-8199-17CA-49D7-AAAB36B3C0B7}"/>
              </a:ext>
            </a:extLst>
          </p:cNvPr>
          <p:cNvSpPr txBox="1"/>
          <p:nvPr/>
        </p:nvSpPr>
        <p:spPr>
          <a:xfrm>
            <a:off x="8386138" y="2447103"/>
            <a:ext cx="30245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Connect the LM workflow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6A8221-A2E1-942E-B58B-0D299A39F7A9}"/>
              </a:ext>
            </a:extLst>
          </p:cNvPr>
          <p:cNvSpPr txBox="1"/>
          <p:nvPr/>
        </p:nvSpPr>
        <p:spPr>
          <a:xfrm>
            <a:off x="9639816" y="5185082"/>
            <a:ext cx="30245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Provide GPUs</a:t>
            </a:r>
          </a:p>
          <a:p>
            <a:r>
              <a:rPr lang="en-US" dirty="0"/>
              <a:t>Provide storage</a:t>
            </a:r>
          </a:p>
        </p:txBody>
      </p:sp>
    </p:spTree>
    <p:extLst>
      <p:ext uri="{BB962C8B-B14F-4D97-AF65-F5344CB8AC3E}">
        <p14:creationId xmlns:p14="http://schemas.microsoft.com/office/powerpoint/2010/main" val="14710353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2F81C-2BD8-A4FA-1C47-752CDA2813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3632" y="1830331"/>
            <a:ext cx="7772400" cy="4572000"/>
          </a:xfrm>
        </p:spPr>
        <p:txBody>
          <a:bodyPr>
            <a:normAutofit/>
          </a:bodyPr>
          <a:lstStyle/>
          <a:p>
            <a:r>
              <a:rPr lang="en-US" sz="4000" dirty="0"/>
              <a:t>Disadvantage of simple RAG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D53411-4585-040B-5834-42C4EFE762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20843" y="1138367"/>
            <a:ext cx="9060875" cy="1592420"/>
          </a:xfrm>
        </p:spPr>
        <p:txBody>
          <a:bodyPr>
            <a:normAutofit/>
          </a:bodyPr>
          <a:lstStyle/>
          <a:p>
            <a:pPr marL="342900" indent="-342900">
              <a:buFontTx/>
              <a:buChar char="-"/>
            </a:pPr>
            <a:r>
              <a:rPr lang="en-US" dirty="0"/>
              <a:t>Require specific prompting</a:t>
            </a:r>
          </a:p>
          <a:p>
            <a:pPr marL="342900" indent="-342900">
              <a:buFontTx/>
              <a:buChar char="-"/>
            </a:pPr>
            <a:r>
              <a:rPr lang="en-US" dirty="0"/>
              <a:t>Not always return the right chunks</a:t>
            </a:r>
          </a:p>
          <a:p>
            <a:pPr marL="342900" indent="-342900">
              <a:buFontTx/>
              <a:buChar char="-"/>
            </a:pPr>
            <a:r>
              <a:rPr lang="en-US" dirty="0"/>
              <a:t>Not working for all RAG workflow</a:t>
            </a:r>
          </a:p>
        </p:txBody>
      </p:sp>
    </p:spTree>
    <p:extLst>
      <p:ext uri="{BB962C8B-B14F-4D97-AF65-F5344CB8AC3E}">
        <p14:creationId xmlns:p14="http://schemas.microsoft.com/office/powerpoint/2010/main" val="4198690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750E1-014E-2F32-5FE0-025C27322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Advanced RAG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F17C48-4EA6-FF9E-E583-12F83B64DF23}"/>
              </a:ext>
            </a:extLst>
          </p:cNvPr>
          <p:cNvSpPr txBox="1"/>
          <p:nvPr/>
        </p:nvSpPr>
        <p:spPr>
          <a:xfrm>
            <a:off x="3147645" y="2097305"/>
            <a:ext cx="75148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https://github.com/NirDiamant/RAG_Techniques/tree/main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924D7F-3CDA-DF96-E9FB-A465A6C884CA}"/>
              </a:ext>
            </a:extLst>
          </p:cNvPr>
          <p:cNvSpPr txBox="1"/>
          <p:nvPr/>
        </p:nvSpPr>
        <p:spPr>
          <a:xfrm>
            <a:off x="815099" y="3413278"/>
            <a:ext cx="95991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The provided </a:t>
            </a:r>
            <a:r>
              <a:rPr lang="en-US" dirty="0" err="1"/>
              <a:t>github</a:t>
            </a:r>
            <a:r>
              <a:rPr lang="en-US" dirty="0"/>
              <a:t> works with older version of </a:t>
            </a:r>
            <a:r>
              <a:rPr lang="en-US" dirty="0" err="1"/>
              <a:t>Langchain</a:t>
            </a:r>
            <a:r>
              <a:rPr lang="en-US" dirty="0"/>
              <a:t> and using OpenAI API key</a:t>
            </a:r>
          </a:p>
          <a:p>
            <a:pPr marL="285750" indent="-285750">
              <a:buFontTx/>
              <a:buChar char="-"/>
            </a:pPr>
            <a:r>
              <a:rPr lang="en-US" dirty="0"/>
              <a:t>The revised version works with </a:t>
            </a:r>
            <a:r>
              <a:rPr lang="en-US" dirty="0" err="1"/>
              <a:t>Langchain</a:t>
            </a:r>
            <a:r>
              <a:rPr lang="en-US" dirty="0"/>
              <a:t> version 1.2.8 (&gt;1) and using Ollama running on </a:t>
            </a:r>
            <a:r>
              <a:rPr lang="en-US" dirty="0" err="1"/>
              <a:t>SuperPOD</a:t>
            </a:r>
            <a:r>
              <a:rPr lang="en-US" dirty="0"/>
              <a:t> that can be applied to any workflow running locally</a:t>
            </a:r>
          </a:p>
          <a:p>
            <a:pPr marL="285750" indent="-285750">
              <a:buFontTx/>
              <a:buChar char="-"/>
            </a:pPr>
            <a:r>
              <a:rPr lang="en-US" dirty="0"/>
              <a:t>Step by step instructions</a:t>
            </a:r>
          </a:p>
        </p:txBody>
      </p:sp>
    </p:spTree>
    <p:extLst>
      <p:ext uri="{BB962C8B-B14F-4D97-AF65-F5344CB8AC3E}">
        <p14:creationId xmlns:p14="http://schemas.microsoft.com/office/powerpoint/2010/main" val="1879275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79F20-7FE0-9464-CC8C-AAB74EE17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RAGs Technique</a:t>
            </a:r>
          </a:p>
        </p:txBody>
      </p:sp>
      <p:pic>
        <p:nvPicPr>
          <p:cNvPr id="5" name="Picture Placeholder 4" descr="A road winding through a forest">
            <a:extLst>
              <a:ext uri="{FF2B5EF4-FFF2-40B4-BE49-F238E27FC236}">
                <a16:creationId xmlns:a16="http://schemas.microsoft.com/office/drawing/2014/main" id="{164FB9BE-89B8-A73D-CB0C-5BF6EAC06D9A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379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D1CFB9-45C0-9B0A-A685-D60EEAE83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339" y="104887"/>
            <a:ext cx="6858000" cy="932688"/>
          </a:xfrm>
        </p:spPr>
        <p:txBody>
          <a:bodyPr>
            <a:normAutofit/>
          </a:bodyPr>
          <a:lstStyle/>
          <a:p>
            <a:r>
              <a:rPr lang="en-US" sz="3200" dirty="0"/>
              <a:t>1. Simple RAG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3AB3A65-135B-8F04-AB5D-0AD006141A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611" y="1225830"/>
            <a:ext cx="11112098" cy="313970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C17CCE-B744-EDE0-0E2F-0060753C2FE5}"/>
              </a:ext>
            </a:extLst>
          </p:cNvPr>
          <p:cNvSpPr txBox="1"/>
          <p:nvPr/>
        </p:nvSpPr>
        <p:spPr>
          <a:xfrm rot="19106527">
            <a:off x="1004462" y="4891628"/>
            <a:ext cx="2293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PyPDF</a:t>
            </a:r>
            <a:r>
              <a:rPr lang="en-US" dirty="0"/>
              <a:t> to load pdf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BC791E-EFF7-6878-810C-29E83BE2B3F4}"/>
              </a:ext>
            </a:extLst>
          </p:cNvPr>
          <p:cNvSpPr txBox="1"/>
          <p:nvPr/>
        </p:nvSpPr>
        <p:spPr>
          <a:xfrm rot="19106527">
            <a:off x="2674708" y="4658711"/>
            <a:ext cx="2397589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RecursiveCharacterTextSplitter</a:t>
            </a:r>
            <a:endParaRPr lang="en-US" dirty="0"/>
          </a:p>
          <a:p>
            <a:r>
              <a:rPr lang="en-US" sz="1600" i="1" dirty="0"/>
              <a:t>Chunk size</a:t>
            </a:r>
          </a:p>
          <a:p>
            <a:r>
              <a:rPr lang="en-US" sz="1600" i="1" dirty="0"/>
              <a:t>Chunk overlap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3608CD-0A58-EA20-231F-B825AF0204D8}"/>
              </a:ext>
            </a:extLst>
          </p:cNvPr>
          <p:cNvSpPr txBox="1"/>
          <p:nvPr/>
        </p:nvSpPr>
        <p:spPr>
          <a:xfrm rot="19106527">
            <a:off x="4711855" y="4520213"/>
            <a:ext cx="2293915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Embedding model from Ollama</a:t>
            </a:r>
          </a:p>
          <a:p>
            <a:r>
              <a:rPr lang="en-US" dirty="0" err="1"/>
              <a:t>Vectorstore</a:t>
            </a:r>
            <a:r>
              <a:rPr lang="en-US" dirty="0"/>
              <a:t>: </a:t>
            </a:r>
          </a:p>
          <a:p>
            <a:pPr marL="285750" indent="-285750">
              <a:buFontTx/>
              <a:buChar char="-"/>
            </a:pPr>
            <a:r>
              <a:rPr lang="en-US" sz="1600" i="1" dirty="0"/>
              <a:t>FAISS</a:t>
            </a:r>
          </a:p>
          <a:p>
            <a:pPr marL="285750" indent="-285750">
              <a:buFontTx/>
              <a:buChar char="-"/>
            </a:pPr>
            <a:r>
              <a:rPr lang="en-US" sz="1600" i="1" dirty="0"/>
              <a:t>Chroma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968A4C-F575-C1D8-6DA3-7B7BD0E8D4E3}"/>
              </a:ext>
            </a:extLst>
          </p:cNvPr>
          <p:cNvSpPr txBox="1"/>
          <p:nvPr/>
        </p:nvSpPr>
        <p:spPr>
          <a:xfrm rot="19106527">
            <a:off x="6291750" y="4800467"/>
            <a:ext cx="271986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With given query:</a:t>
            </a:r>
            <a:endParaRPr lang="en-US" sz="1400" i="1" dirty="0"/>
          </a:p>
          <a:p>
            <a:r>
              <a:rPr lang="en-US" sz="1600" i="1" dirty="0"/>
              <a:t>Similarity search:</a:t>
            </a:r>
          </a:p>
          <a:p>
            <a:r>
              <a:rPr lang="en-US" sz="1600" i="1" dirty="0"/>
              <a:t>Max marginal relevance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EC0A06-F48B-0680-B0AE-5B68AE829609}"/>
              </a:ext>
            </a:extLst>
          </p:cNvPr>
          <p:cNvSpPr txBox="1"/>
          <p:nvPr/>
        </p:nvSpPr>
        <p:spPr>
          <a:xfrm rot="19106527">
            <a:off x="8561814" y="4837369"/>
            <a:ext cx="22939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LLM from Ollama</a:t>
            </a:r>
          </a:p>
          <a:p>
            <a:r>
              <a:rPr lang="en-US" dirty="0"/>
              <a:t>LCEL to get output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89195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3B061-22CE-17CF-E55F-A0648D810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6809D9-17EA-BECE-30AA-A1E5BB439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339" y="104887"/>
            <a:ext cx="6858000" cy="932688"/>
          </a:xfrm>
        </p:spPr>
        <p:txBody>
          <a:bodyPr>
            <a:normAutofit/>
          </a:bodyPr>
          <a:lstStyle/>
          <a:p>
            <a:r>
              <a:rPr lang="en-US" sz="3200" dirty="0"/>
              <a:t>2. Simple RAG for CSV tabular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3998A6D-2201-7560-D188-EFEEE5DC44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611" y="1225830"/>
            <a:ext cx="11112098" cy="313970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786A9D7-32FF-8CAF-678C-7402AF6E1D21}"/>
              </a:ext>
            </a:extLst>
          </p:cNvPr>
          <p:cNvSpPr txBox="1"/>
          <p:nvPr/>
        </p:nvSpPr>
        <p:spPr>
          <a:xfrm rot="19106527">
            <a:off x="573875" y="5055011"/>
            <a:ext cx="27864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CSV loader to load csv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356FFE-B0CD-CC00-C901-CC7F141B5CA2}"/>
              </a:ext>
            </a:extLst>
          </p:cNvPr>
          <p:cNvSpPr txBox="1"/>
          <p:nvPr/>
        </p:nvSpPr>
        <p:spPr>
          <a:xfrm rot="19106527">
            <a:off x="2674708" y="5043431"/>
            <a:ext cx="23975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Each row is a chunk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E6606A-48B6-8863-1055-DF747790D553}"/>
              </a:ext>
            </a:extLst>
          </p:cNvPr>
          <p:cNvSpPr txBox="1"/>
          <p:nvPr/>
        </p:nvSpPr>
        <p:spPr>
          <a:xfrm rot="19106527">
            <a:off x="4711855" y="4520213"/>
            <a:ext cx="2293915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Embedding model from Ollama</a:t>
            </a:r>
          </a:p>
          <a:p>
            <a:r>
              <a:rPr lang="en-US" dirty="0" err="1"/>
              <a:t>Vectorstore</a:t>
            </a:r>
            <a:r>
              <a:rPr lang="en-US" dirty="0"/>
              <a:t>: </a:t>
            </a:r>
          </a:p>
          <a:p>
            <a:pPr marL="285750" indent="-285750">
              <a:buFontTx/>
              <a:buChar char="-"/>
            </a:pPr>
            <a:r>
              <a:rPr lang="en-US" sz="1600" i="1" dirty="0"/>
              <a:t>FAISS</a:t>
            </a:r>
          </a:p>
          <a:p>
            <a:pPr marL="285750" indent="-285750">
              <a:buFontTx/>
              <a:buChar char="-"/>
            </a:pPr>
            <a:r>
              <a:rPr lang="en-US" sz="1600" i="1" dirty="0"/>
              <a:t>Chroma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F56FEF-5BA0-5809-EEE1-0F42132C9C34}"/>
              </a:ext>
            </a:extLst>
          </p:cNvPr>
          <p:cNvSpPr txBox="1"/>
          <p:nvPr/>
        </p:nvSpPr>
        <p:spPr>
          <a:xfrm rot="19106527">
            <a:off x="6291750" y="4800467"/>
            <a:ext cx="271986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With given query:</a:t>
            </a:r>
            <a:endParaRPr lang="en-US" sz="1400" i="1" dirty="0"/>
          </a:p>
          <a:p>
            <a:r>
              <a:rPr lang="en-US" sz="1600" i="1" dirty="0"/>
              <a:t>Similarity search:</a:t>
            </a:r>
          </a:p>
          <a:p>
            <a:r>
              <a:rPr lang="en-US" sz="1600" i="1" dirty="0"/>
              <a:t>Max marginal relevance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12A2AA8-8350-87E6-BDAE-F8911C580DB2}"/>
              </a:ext>
            </a:extLst>
          </p:cNvPr>
          <p:cNvSpPr txBox="1"/>
          <p:nvPr/>
        </p:nvSpPr>
        <p:spPr>
          <a:xfrm rot="19106527">
            <a:off x="8561814" y="4837369"/>
            <a:ext cx="22939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LLM from Ollama</a:t>
            </a:r>
          </a:p>
          <a:p>
            <a:r>
              <a:rPr lang="en-US" dirty="0"/>
              <a:t>LCEL to get output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98982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3BAC7-CE77-CDD4-33FA-111C7A263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22786-559A-BC54-88B3-210807BE5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339" y="104887"/>
            <a:ext cx="6858000" cy="932688"/>
          </a:xfrm>
        </p:spPr>
        <p:txBody>
          <a:bodyPr>
            <a:normAutofit/>
          </a:bodyPr>
          <a:lstStyle/>
          <a:p>
            <a:r>
              <a:rPr lang="en-US" sz="3200" dirty="0"/>
              <a:t>3. Reliable RAG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EB3D4FB-6880-475D-A2A2-8D6B6E7A8D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611" y="1225830"/>
            <a:ext cx="11112098" cy="31397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26D751F-712C-0D39-3028-07A9CA86D1AD}"/>
              </a:ext>
            </a:extLst>
          </p:cNvPr>
          <p:cNvSpPr txBox="1"/>
          <p:nvPr/>
        </p:nvSpPr>
        <p:spPr>
          <a:xfrm rot="19106527">
            <a:off x="6291750" y="4354193"/>
            <a:ext cx="271986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- With given query:- Ask LLM to rate if the shortlisted chunks are relevant to the query or not and retain these chunks</a:t>
            </a:r>
          </a:p>
        </p:txBody>
      </p:sp>
      <p:sp>
        <p:nvSpPr>
          <p:cNvPr id="14" name="Thought Bubble: Cloud 13">
            <a:extLst>
              <a:ext uri="{FF2B5EF4-FFF2-40B4-BE49-F238E27FC236}">
                <a16:creationId xmlns:a16="http://schemas.microsoft.com/office/drawing/2014/main" id="{3B8D79D2-B218-48E4-01BF-0AFA260E610A}"/>
              </a:ext>
            </a:extLst>
          </p:cNvPr>
          <p:cNvSpPr/>
          <p:nvPr/>
        </p:nvSpPr>
        <p:spPr>
          <a:xfrm>
            <a:off x="7132841" y="104887"/>
            <a:ext cx="4869138" cy="1248094"/>
          </a:xfrm>
          <a:prstGeom prst="cloudCallout">
            <a:avLst>
              <a:gd name="adj1" fmla="val -42417"/>
              <a:gd name="adj2" fmla="val 8188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Standard RAG, if Retrieval return irrelevant chunk it still continue =&gt; Hallucination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2EB443-1EB9-E518-F5E1-36707A87C78D}"/>
              </a:ext>
            </a:extLst>
          </p:cNvPr>
          <p:cNvSpPr txBox="1"/>
          <p:nvPr/>
        </p:nvSpPr>
        <p:spPr>
          <a:xfrm rot="19106527">
            <a:off x="1004462" y="4891628"/>
            <a:ext cx="2293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PyPDF</a:t>
            </a:r>
            <a:r>
              <a:rPr lang="en-US" dirty="0"/>
              <a:t> to load pdf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D2BEAE-6CAA-A811-B8C5-BA266EB3B862}"/>
              </a:ext>
            </a:extLst>
          </p:cNvPr>
          <p:cNvSpPr txBox="1"/>
          <p:nvPr/>
        </p:nvSpPr>
        <p:spPr>
          <a:xfrm rot="19106527">
            <a:off x="2674708" y="4658711"/>
            <a:ext cx="2397589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RecursiveCharacterTextSplitter</a:t>
            </a:r>
            <a:endParaRPr lang="en-US" dirty="0"/>
          </a:p>
          <a:p>
            <a:r>
              <a:rPr lang="en-US" sz="1600" i="1" dirty="0"/>
              <a:t>Chunk size</a:t>
            </a:r>
          </a:p>
          <a:p>
            <a:r>
              <a:rPr lang="en-US" sz="1600" i="1" dirty="0"/>
              <a:t>Chunk overlap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B1A91-FC8A-4E8B-B213-0AA091588534}"/>
              </a:ext>
            </a:extLst>
          </p:cNvPr>
          <p:cNvSpPr txBox="1"/>
          <p:nvPr/>
        </p:nvSpPr>
        <p:spPr>
          <a:xfrm rot="19106527">
            <a:off x="4711855" y="4520213"/>
            <a:ext cx="2293915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Embedding model from Ollama</a:t>
            </a:r>
          </a:p>
          <a:p>
            <a:r>
              <a:rPr lang="en-US" dirty="0" err="1"/>
              <a:t>Vectorstore</a:t>
            </a:r>
            <a:r>
              <a:rPr lang="en-US" dirty="0"/>
              <a:t>: </a:t>
            </a:r>
          </a:p>
          <a:p>
            <a:pPr marL="285750" indent="-285750">
              <a:buFontTx/>
              <a:buChar char="-"/>
            </a:pPr>
            <a:r>
              <a:rPr lang="en-US" sz="1600" i="1" dirty="0"/>
              <a:t>FAISS</a:t>
            </a:r>
          </a:p>
          <a:p>
            <a:pPr marL="285750" indent="-285750">
              <a:buFontTx/>
              <a:buChar char="-"/>
            </a:pPr>
            <a:r>
              <a:rPr lang="en-US" sz="1600" i="1" dirty="0"/>
              <a:t>Chroma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148CA4E-73DA-EBCA-B7CA-9A164073A993}"/>
              </a:ext>
            </a:extLst>
          </p:cNvPr>
          <p:cNvSpPr txBox="1"/>
          <p:nvPr/>
        </p:nvSpPr>
        <p:spPr>
          <a:xfrm rot="19106527">
            <a:off x="8561814" y="4837369"/>
            <a:ext cx="22939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LLM from Ollama</a:t>
            </a:r>
          </a:p>
          <a:p>
            <a:r>
              <a:rPr lang="en-US" dirty="0"/>
              <a:t>LCEL to get output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20650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D071EC-1726-BB48-78E9-BEE84F8AD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B71C-0DC4-8587-0F71-7F506CF834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339" y="104887"/>
            <a:ext cx="6858000" cy="932688"/>
          </a:xfrm>
        </p:spPr>
        <p:txBody>
          <a:bodyPr>
            <a:normAutofit/>
          </a:bodyPr>
          <a:lstStyle/>
          <a:p>
            <a:r>
              <a:rPr lang="en-US" sz="3200" dirty="0"/>
              <a:t>3. Reliable RAG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5BD8ADC-8771-BAB8-4DF2-BE77110806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894"/>
          <a:stretch>
            <a:fillRect/>
          </a:stretch>
        </p:blipFill>
        <p:spPr>
          <a:xfrm>
            <a:off x="3735869" y="1527871"/>
            <a:ext cx="5567771" cy="31397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C4B2C93-2F45-FF2F-B82E-AB9E64BFB9E6}"/>
              </a:ext>
            </a:extLst>
          </p:cNvPr>
          <p:cNvSpPr txBox="1"/>
          <p:nvPr/>
        </p:nvSpPr>
        <p:spPr>
          <a:xfrm>
            <a:off x="52409" y="2218601"/>
            <a:ext cx="381660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- With given query:</a:t>
            </a:r>
          </a:p>
          <a:p>
            <a:r>
              <a:rPr lang="en-US" dirty="0">
                <a:solidFill>
                  <a:srgbClr val="0000FF"/>
                </a:solidFill>
              </a:rPr>
              <a:t>Ask LLM to rate if the shortlisted chunks are relevant to the query or not and retain these chunks to generate answer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F5A098-F75D-C78D-BB71-4A8950A6C9F1}"/>
              </a:ext>
            </a:extLst>
          </p:cNvPr>
          <p:cNvSpPr txBox="1"/>
          <p:nvPr/>
        </p:nvSpPr>
        <p:spPr>
          <a:xfrm>
            <a:off x="8456132" y="2011532"/>
            <a:ext cx="368345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FF"/>
                </a:solidFill>
              </a:rPr>
              <a:t>Ask LLM to check for Hallucination from the generated answer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FF"/>
                </a:solidFill>
              </a:rPr>
              <a:t>Ask LLM to Highlight the source segment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597FF29-5505-7EDE-002D-4FCA0BE169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0318" y="4574766"/>
            <a:ext cx="3881029" cy="2235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44687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74E24-27BE-D93E-6F17-499DF61AA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Query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4609C85-71FE-A031-C69F-0A069E26C2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371" b="17255"/>
          <a:stretch>
            <a:fillRect/>
          </a:stretch>
        </p:blipFill>
        <p:spPr>
          <a:xfrm>
            <a:off x="1725360" y="1700535"/>
            <a:ext cx="7613105" cy="4977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3969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D1DA1-E85F-C43A-24B0-8DB4F4BB0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B691E-398A-97A0-834C-3EE7A2103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339" y="104887"/>
            <a:ext cx="6858000" cy="932688"/>
          </a:xfrm>
        </p:spPr>
        <p:txBody>
          <a:bodyPr>
            <a:normAutofit/>
          </a:bodyPr>
          <a:lstStyle/>
          <a:p>
            <a:r>
              <a:rPr lang="en-US" sz="3200" dirty="0"/>
              <a:t>4. Query Transformation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907899-FCDA-BBD1-45DE-4FEA8EA7C3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799" r="33275"/>
          <a:stretch>
            <a:fillRect/>
          </a:stretch>
        </p:blipFill>
        <p:spPr>
          <a:xfrm>
            <a:off x="227566" y="1037575"/>
            <a:ext cx="1547446" cy="31397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569C725-78E8-C799-B869-E72A24785FAF}"/>
              </a:ext>
            </a:extLst>
          </p:cNvPr>
          <p:cNvSpPr txBox="1"/>
          <p:nvPr/>
        </p:nvSpPr>
        <p:spPr>
          <a:xfrm>
            <a:off x="5778595" y="504931"/>
            <a:ext cx="55955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>
                <a:solidFill>
                  <a:srgbClr val="0000FF"/>
                </a:solidFill>
              </a:rPr>
              <a:t>For complex &amp; ambiguous queries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20C0750-FE5C-26FC-68C6-47A6AE5AE0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0348118"/>
              </p:ext>
            </p:extLst>
          </p:nvPr>
        </p:nvGraphicFramePr>
        <p:xfrm>
          <a:off x="2230603" y="1431324"/>
          <a:ext cx="9784860" cy="495456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61620">
                  <a:extLst>
                    <a:ext uri="{9D8B030D-6E8A-4147-A177-3AD203B41FA5}">
                      <a16:colId xmlns:a16="http://schemas.microsoft.com/office/drawing/2014/main" val="2206825961"/>
                    </a:ext>
                  </a:extLst>
                </a:gridCol>
                <a:gridCol w="3261620">
                  <a:extLst>
                    <a:ext uri="{9D8B030D-6E8A-4147-A177-3AD203B41FA5}">
                      <a16:colId xmlns:a16="http://schemas.microsoft.com/office/drawing/2014/main" val="4139954223"/>
                    </a:ext>
                  </a:extLst>
                </a:gridCol>
                <a:gridCol w="3261620">
                  <a:extLst>
                    <a:ext uri="{9D8B030D-6E8A-4147-A177-3AD203B41FA5}">
                      <a16:colId xmlns:a16="http://schemas.microsoft.com/office/drawing/2014/main" val="3981806570"/>
                    </a:ext>
                  </a:extLst>
                </a:gridCol>
              </a:tblGrid>
              <a:tr h="47195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Query Rewriting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Step-back 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Sub-query Decomposition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2458862"/>
                  </a:ext>
                </a:extLst>
              </a:tr>
              <a:tr h="4482617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00000"/>
                          </a:solidFill>
                        </a:rPr>
                        <a:t>Using LLM to rewrite the query to expands include specific aspect:</a:t>
                      </a:r>
                      <a:br>
                        <a:rPr lang="en-US" dirty="0"/>
                      </a:br>
                      <a:br>
                        <a:rPr lang="en-US" dirty="0"/>
                      </a:br>
                      <a:r>
                        <a:rPr lang="en-US" dirty="0"/>
                        <a:t>“</a:t>
                      </a:r>
                      <a:r>
                        <a:rPr lang="en-US" i="1" dirty="0">
                          <a:solidFill>
                            <a:schemeClr val="tx1"/>
                          </a:solidFill>
                        </a:rPr>
                        <a:t>You are an AI assistant tasked with </a:t>
                      </a:r>
                      <a:r>
                        <a:rPr lang="en-US" i="1" dirty="0">
                          <a:solidFill>
                            <a:srgbClr val="0000FF"/>
                          </a:solidFill>
                        </a:rPr>
                        <a:t>reformulating user queries to improve retrieval in a RAG </a:t>
                      </a:r>
                      <a:r>
                        <a:rPr lang="en-US" i="1" dirty="0">
                          <a:solidFill>
                            <a:schemeClr val="tx1"/>
                          </a:solidFill>
                        </a:rPr>
                        <a:t>system.</a:t>
                      </a:r>
                    </a:p>
                    <a:p>
                      <a:endParaRPr lang="en-US" i="1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en-US" i="1" dirty="0">
                          <a:solidFill>
                            <a:schemeClr val="tx1"/>
                          </a:solidFill>
                        </a:rPr>
                        <a:t>Given the original query</a:t>
                      </a:r>
                      <a:r>
                        <a:rPr lang="en-US" i="1" dirty="0">
                          <a:solidFill>
                            <a:srgbClr val="0000FF"/>
                          </a:solidFill>
                        </a:rPr>
                        <a:t>, rewrite it to be more specific, detailed, </a:t>
                      </a:r>
                      <a:r>
                        <a:rPr lang="en-US" i="1" dirty="0">
                          <a:solidFill>
                            <a:schemeClr val="tx1"/>
                          </a:solidFill>
                        </a:rPr>
                        <a:t>and likely to retrieve relevant information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00000"/>
                          </a:solidFill>
                        </a:rPr>
                        <a:t>Using LLM to rewrite the query to retrieve broader context and background: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“</a:t>
                      </a:r>
                      <a:r>
                        <a:rPr lang="en-US" i="1" dirty="0">
                          <a:solidFill>
                            <a:schemeClr val="tx1"/>
                          </a:solidFill>
                        </a:rPr>
                        <a:t>You are an AI assistant tasked with </a:t>
                      </a:r>
                      <a:r>
                        <a:rPr lang="en-US" i="1" dirty="0">
                          <a:solidFill>
                            <a:srgbClr val="0000FF"/>
                          </a:solidFill>
                        </a:rPr>
                        <a:t>generating broader, more general queries to improve context retrieval in a RAG </a:t>
                      </a:r>
                      <a:r>
                        <a:rPr lang="en-US" i="1" dirty="0">
                          <a:solidFill>
                            <a:schemeClr val="tx1"/>
                          </a:solidFill>
                        </a:rPr>
                        <a:t>system.</a:t>
                      </a:r>
                    </a:p>
                    <a:p>
                      <a:endParaRPr lang="en-US" i="1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en-US" i="1" dirty="0">
                          <a:solidFill>
                            <a:schemeClr val="tx1"/>
                          </a:solidFill>
                        </a:rPr>
                        <a:t>Given the original query, </a:t>
                      </a:r>
                      <a:r>
                        <a:rPr lang="en-US" i="1" dirty="0">
                          <a:solidFill>
                            <a:srgbClr val="0000FF"/>
                          </a:solidFill>
                        </a:rPr>
                        <a:t>generate a step-back query that is more general </a:t>
                      </a:r>
                      <a:r>
                        <a:rPr lang="en-US" i="1" dirty="0">
                          <a:solidFill>
                            <a:schemeClr val="tx1"/>
                          </a:solidFill>
                        </a:rPr>
                        <a:t>and can help retrieve relevant background information</a:t>
                      </a:r>
                      <a:r>
                        <a:rPr lang="en-US" dirty="0">
                          <a:solidFill>
                            <a:srgbClr val="0000FF"/>
                          </a:solidFill>
                        </a:rPr>
                        <a:t>.”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C00000"/>
                          </a:solidFill>
                        </a:rPr>
                        <a:t>Using LLM to rewrite the query to breakdown into smaller questions: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“</a:t>
                      </a:r>
                      <a:r>
                        <a:rPr lang="en-US" i="1" dirty="0"/>
                        <a:t>You are an AI assistant tasked with </a:t>
                      </a:r>
                      <a:r>
                        <a:rPr lang="en-US" i="1" dirty="0">
                          <a:solidFill>
                            <a:srgbClr val="0000FF"/>
                          </a:solidFill>
                        </a:rPr>
                        <a:t>breaking down complex queries into simpler sub-queries for a RAG </a:t>
                      </a:r>
                      <a:r>
                        <a:rPr lang="en-US" i="1" dirty="0"/>
                        <a:t>system.</a:t>
                      </a:r>
                    </a:p>
                    <a:p>
                      <a:endParaRPr lang="en-US" i="1" dirty="0"/>
                    </a:p>
                    <a:p>
                      <a:r>
                        <a:rPr lang="en-US" i="1" dirty="0"/>
                        <a:t>Given the original query, </a:t>
                      </a:r>
                      <a:r>
                        <a:rPr lang="en-US" i="1" dirty="0">
                          <a:solidFill>
                            <a:srgbClr val="0000FF"/>
                          </a:solidFill>
                        </a:rPr>
                        <a:t>decompose it into 2-4 simpler sub-queries</a:t>
                      </a:r>
                      <a:r>
                        <a:rPr lang="en-US" i="1" dirty="0"/>
                        <a:t> that, when answered together, would provide a comprehensive response to the original query</a:t>
                      </a:r>
                      <a:r>
                        <a:rPr lang="en-US" dirty="0"/>
                        <a:t>.”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60912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970515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298AE-D65B-831A-95F0-B18DB539C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00723-22D7-224F-3025-7585D2E89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338" y="104887"/>
            <a:ext cx="11481761" cy="932688"/>
          </a:xfrm>
        </p:spPr>
        <p:txBody>
          <a:bodyPr>
            <a:normAutofit/>
          </a:bodyPr>
          <a:lstStyle/>
          <a:p>
            <a:r>
              <a:rPr lang="en-US" sz="3200" dirty="0"/>
              <a:t>5. Hypothetical Document Embedding (</a:t>
            </a:r>
            <a:r>
              <a:rPr lang="en-US" sz="3200" dirty="0" err="1"/>
              <a:t>HyDE</a:t>
            </a:r>
            <a:r>
              <a:rPr lang="en-US" sz="3200" dirty="0"/>
              <a:t>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A623B5-2E47-4219-C28E-6CEB426EDC0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7458" r="50217"/>
          <a:stretch>
            <a:fillRect/>
          </a:stretch>
        </p:blipFill>
        <p:spPr>
          <a:xfrm>
            <a:off x="78614" y="1037575"/>
            <a:ext cx="1369532" cy="31397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ED55150-BF54-E276-0365-1439582BDF77}"/>
              </a:ext>
            </a:extLst>
          </p:cNvPr>
          <p:cNvSpPr txBox="1"/>
          <p:nvPr/>
        </p:nvSpPr>
        <p:spPr>
          <a:xfrm>
            <a:off x="4427186" y="1084189"/>
            <a:ext cx="6917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>
                <a:solidFill>
                  <a:srgbClr val="0000FF"/>
                </a:solidFill>
              </a:rPr>
              <a:t>To create longer documents and get better match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D2606C7-0B6D-37E3-D787-7478CD4612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4144648"/>
              </p:ext>
            </p:extLst>
          </p:nvPr>
        </p:nvGraphicFramePr>
        <p:xfrm>
          <a:off x="1841672" y="1625791"/>
          <a:ext cx="9673148" cy="165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36574">
                  <a:extLst>
                    <a:ext uri="{9D8B030D-6E8A-4147-A177-3AD203B41FA5}">
                      <a16:colId xmlns:a16="http://schemas.microsoft.com/office/drawing/2014/main" val="380781049"/>
                    </a:ext>
                  </a:extLst>
                </a:gridCol>
                <a:gridCol w="4836574">
                  <a:extLst>
                    <a:ext uri="{9D8B030D-6E8A-4147-A177-3AD203B41FA5}">
                      <a16:colId xmlns:a16="http://schemas.microsoft.com/office/drawing/2014/main" val="1594508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Standard Retrieval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 err="1"/>
                        <a:t>HyDE</a:t>
                      </a:r>
                      <a:r>
                        <a:rPr lang="en-US" dirty="0"/>
                        <a:t> Retrieval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36199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Query → embed → search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Query → </a:t>
                      </a:r>
                      <a:r>
                        <a:rPr lang="en-US" b="1" dirty="0"/>
                        <a:t>generate hypothetical answer</a:t>
                      </a:r>
                      <a:r>
                        <a:rPr lang="en-US" dirty="0"/>
                        <a:t> → embed answer → search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12507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Short query vs. long chunks (mismatch)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Full document vs. long chunks (better match)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1217364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F45E70FA-F7F6-4293-28AE-E583FE7387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1073" y="3356728"/>
            <a:ext cx="3681027" cy="334380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B007643-C421-D8F6-7E4E-933B9CA7C4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0342" y="4617900"/>
            <a:ext cx="3853902" cy="1228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5404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ACB9CB-C546-7336-FC5D-9C94DF212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072856-0195-72F9-6A34-3A5A57E421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338" y="104887"/>
            <a:ext cx="11481761" cy="932688"/>
          </a:xfrm>
        </p:spPr>
        <p:txBody>
          <a:bodyPr>
            <a:normAutofit/>
          </a:bodyPr>
          <a:lstStyle/>
          <a:p>
            <a:r>
              <a:rPr lang="en-US" sz="3200" dirty="0"/>
              <a:t>6. Hypothetical Prompt Embedding (</a:t>
            </a:r>
            <a:r>
              <a:rPr lang="en-US" sz="3200" dirty="0" err="1"/>
              <a:t>HyPE</a:t>
            </a:r>
            <a:r>
              <a:rPr lang="en-US" sz="3200" dirty="0"/>
              <a:t>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61F7B5-5CFB-2A48-559E-DD54AA3781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7458" r="50217"/>
          <a:stretch>
            <a:fillRect/>
          </a:stretch>
        </p:blipFill>
        <p:spPr>
          <a:xfrm>
            <a:off x="78614" y="1037575"/>
            <a:ext cx="1369532" cy="31397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AF92E95-77B0-F2FF-74C5-CC95B4478B54}"/>
              </a:ext>
            </a:extLst>
          </p:cNvPr>
          <p:cNvSpPr txBox="1"/>
          <p:nvPr/>
        </p:nvSpPr>
        <p:spPr>
          <a:xfrm>
            <a:off x="4427186" y="1084189"/>
            <a:ext cx="6917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 err="1">
                <a:solidFill>
                  <a:srgbClr val="0000FF"/>
                </a:solidFill>
              </a:rPr>
              <a:t>HyPE</a:t>
            </a:r>
            <a:r>
              <a:rPr lang="en-US" sz="2400" b="1" i="1" dirty="0">
                <a:solidFill>
                  <a:srgbClr val="0000FF"/>
                </a:solidFill>
              </a:rPr>
              <a:t> is reverse of </a:t>
            </a:r>
            <a:r>
              <a:rPr lang="en-US" sz="2400" b="1" i="1" dirty="0" err="1">
                <a:solidFill>
                  <a:srgbClr val="0000FF"/>
                </a:solidFill>
              </a:rPr>
              <a:t>HyDE</a:t>
            </a:r>
            <a:endParaRPr lang="en-US" sz="2400" b="1" i="1" dirty="0">
              <a:solidFill>
                <a:srgbClr val="0000FF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2A9BCDF-728D-0883-A3C2-B1A5A34AD3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1634127"/>
              </p:ext>
            </p:extLst>
          </p:nvPr>
        </p:nvGraphicFramePr>
        <p:xfrm>
          <a:off x="1576866" y="1625791"/>
          <a:ext cx="1040549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0255">
                  <a:extLst>
                    <a:ext uri="{9D8B030D-6E8A-4147-A177-3AD203B41FA5}">
                      <a16:colId xmlns:a16="http://schemas.microsoft.com/office/drawing/2014/main" val="2565935301"/>
                    </a:ext>
                  </a:extLst>
                </a:gridCol>
                <a:gridCol w="2324912">
                  <a:extLst>
                    <a:ext uri="{9D8B030D-6E8A-4147-A177-3AD203B41FA5}">
                      <a16:colId xmlns:a16="http://schemas.microsoft.com/office/drawing/2014/main" val="3709105351"/>
                    </a:ext>
                  </a:extLst>
                </a:gridCol>
                <a:gridCol w="3727254">
                  <a:extLst>
                    <a:ext uri="{9D8B030D-6E8A-4147-A177-3AD203B41FA5}">
                      <a16:colId xmlns:a16="http://schemas.microsoft.com/office/drawing/2014/main" val="2083697486"/>
                    </a:ext>
                  </a:extLst>
                </a:gridCol>
                <a:gridCol w="2923075">
                  <a:extLst>
                    <a:ext uri="{9D8B030D-6E8A-4147-A177-3AD203B41FA5}">
                      <a16:colId xmlns:a16="http://schemas.microsoft.com/office/drawing/2014/main" val="37201806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Technique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When it generates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What it generates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Search type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08298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HyDE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At </a:t>
                      </a:r>
                      <a:r>
                        <a:rPr lang="en-US" b="1"/>
                        <a:t>query time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 hypothetical </a:t>
                      </a:r>
                      <a:r>
                        <a:rPr lang="en-US" i="1"/>
                        <a:t>answer document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document → document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16858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HyPE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At </a:t>
                      </a:r>
                      <a:r>
                        <a:rPr lang="en-US" b="1"/>
                        <a:t>indexing time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Hypothetical </a:t>
                      </a:r>
                      <a:r>
                        <a:rPr lang="en-US" i="1"/>
                        <a:t>questions</a:t>
                      </a:r>
                      <a:r>
                        <a:rPr lang="en-US"/>
                        <a:t> per chunk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question → question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2826170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74F3ABA6-CE24-0D6E-484A-72AB0F069C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5251" y="2998383"/>
            <a:ext cx="8319247" cy="350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28031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809C5-EA25-ACAE-7309-FF09702735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 about CHUNKS</a:t>
            </a:r>
          </a:p>
        </p:txBody>
      </p:sp>
      <p:pic>
        <p:nvPicPr>
          <p:cNvPr id="20486" name="Picture 6" descr="1,200+ Messy Library Book Stack Stock Photos, Pictures &amp; Royalty-Free  Images - iStock">
            <a:extLst>
              <a:ext uri="{FF2B5EF4-FFF2-40B4-BE49-F238E27FC236}">
                <a16:creationId xmlns:a16="http://schemas.microsoft.com/office/drawing/2014/main" id="{F802D90F-D7E4-4EDB-BC78-38F327EAE8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2276" y="1442585"/>
            <a:ext cx="7709635" cy="5139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10945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7954E-389A-36FA-4A07-0DB1DDE54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A7D56A-CC2D-6AA3-FCE2-236E8E4CB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339" y="104887"/>
            <a:ext cx="6858000" cy="932688"/>
          </a:xfrm>
        </p:spPr>
        <p:txBody>
          <a:bodyPr>
            <a:normAutofit/>
          </a:bodyPr>
          <a:lstStyle/>
          <a:p>
            <a:r>
              <a:rPr lang="en-US" sz="3200" dirty="0"/>
              <a:t>7. Proposition Chunking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1BBE0AA-BA92-60E9-4CCA-F348E0ECD4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082" r="65408"/>
          <a:stretch>
            <a:fillRect/>
          </a:stretch>
        </p:blipFill>
        <p:spPr>
          <a:xfrm>
            <a:off x="681111" y="1395469"/>
            <a:ext cx="1056663" cy="31397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1A624B-0C32-9E82-306B-737DC1C2C0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070" y="3180746"/>
            <a:ext cx="4414718" cy="35220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EA33AB5-31D4-E63A-A4AF-F5FD68174F81}"/>
              </a:ext>
            </a:extLst>
          </p:cNvPr>
          <p:cNvSpPr txBox="1"/>
          <p:nvPr/>
        </p:nvSpPr>
        <p:spPr>
          <a:xfrm>
            <a:off x="5399482" y="571231"/>
            <a:ext cx="69124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Further splitting the chunk into smaller chunks with more focus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6FC91A39-C4C3-7F9D-8F4C-3AC0E476D61F}"/>
              </a:ext>
            </a:extLst>
          </p:cNvPr>
          <p:cNvGraphicFramePr>
            <a:graphicFrameLocks noGrp="1"/>
          </p:cNvGraphicFramePr>
          <p:nvPr/>
        </p:nvGraphicFramePr>
        <p:xfrm>
          <a:off x="2230602" y="1481962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73144005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0950367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Standard Chunking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Proposition Chunking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77973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Splits text by character count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Splits text into </a:t>
                      </a:r>
                      <a:r>
                        <a:rPr lang="en-US" b="1"/>
                        <a:t>individual facts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34064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One chunk = many mixed ideas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One proposition = one specific fact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469921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May return irrelevant context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Returns only the relevant fact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735483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30731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B722E-BA9D-EEDF-55BF-3C55D8203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85E6B-ADE0-F7E9-9B5D-CBA0FCE71E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338" y="104887"/>
            <a:ext cx="11481761" cy="932688"/>
          </a:xfrm>
        </p:spPr>
        <p:txBody>
          <a:bodyPr>
            <a:normAutofit/>
          </a:bodyPr>
          <a:lstStyle/>
          <a:p>
            <a:r>
              <a:rPr lang="en-US" sz="3200" dirty="0"/>
              <a:t>8. Contextual Chunk Headers (CCH)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23BF878-421C-EA07-3210-10CFAF8437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458" r="50217"/>
          <a:stretch>
            <a:fillRect/>
          </a:stretch>
        </p:blipFill>
        <p:spPr>
          <a:xfrm>
            <a:off x="0" y="3892678"/>
            <a:ext cx="1369532" cy="31397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FBA80B-3DF1-8E07-0819-2E21B8B52BC8}"/>
              </a:ext>
            </a:extLst>
          </p:cNvPr>
          <p:cNvSpPr txBox="1"/>
          <p:nvPr/>
        </p:nvSpPr>
        <p:spPr>
          <a:xfrm>
            <a:off x="4427186" y="1084189"/>
            <a:ext cx="6917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>
                <a:solidFill>
                  <a:srgbClr val="0000FF"/>
                </a:solidFill>
              </a:rPr>
              <a:t>CCH prepending a header for each chunk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CB814D28-AA4A-C339-2182-37EF6A2A06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7958956"/>
              </p:ext>
            </p:extLst>
          </p:nvPr>
        </p:nvGraphicFramePr>
        <p:xfrm>
          <a:off x="1721683" y="1670613"/>
          <a:ext cx="10099316" cy="138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49658">
                  <a:extLst>
                    <a:ext uri="{9D8B030D-6E8A-4147-A177-3AD203B41FA5}">
                      <a16:colId xmlns:a16="http://schemas.microsoft.com/office/drawing/2014/main" val="1015324982"/>
                    </a:ext>
                  </a:extLst>
                </a:gridCol>
                <a:gridCol w="5049658">
                  <a:extLst>
                    <a:ext uri="{9D8B030D-6E8A-4147-A177-3AD203B41FA5}">
                      <a16:colId xmlns:a16="http://schemas.microsoft.com/office/drawing/2014/main" val="7208706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Neue Haas Grotesk Text Pro (Body)"/>
                        </a:rPr>
                        <a:t>Without CCH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Neue Haas Grotesk Text Pro (Body)"/>
                        </a:rPr>
                        <a:t>With CCH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64390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Neue Haas Grotesk Text Pro (Body)"/>
                        </a:rPr>
                        <a:t>"the company reduced emissions by 30%"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Neue Haas Grotesk Text Pro (Body)"/>
                        </a:rPr>
                        <a:t>"Document Title: Nike 2023 Annual Report the company reduced emissions by 30%"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51664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Neue Haas Grotesk Text Pro (Body)"/>
                        </a:rPr>
                        <a:t>Query "Nike climate change" → low match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Neue Haas Grotesk Text Pro (Body)"/>
                        </a:rPr>
                        <a:t>Query "Nike climate change" → </a:t>
                      </a:r>
                      <a:r>
                        <a:rPr lang="en-US" b="1" dirty="0">
                          <a:latin typeface="Neue Haas Grotesk Text Pro (Body)"/>
                        </a:rPr>
                        <a:t>high match</a:t>
                      </a:r>
                      <a:endParaRPr lang="en-US" dirty="0">
                        <a:latin typeface="Neue Haas Grotesk Text Pro (Body)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5700319"/>
                  </a:ext>
                </a:extLst>
              </a:tr>
            </a:tbl>
          </a:graphicData>
        </a:graphic>
      </p:graphicFrame>
      <p:pic>
        <p:nvPicPr>
          <p:cNvPr id="16" name="Picture 15">
            <a:extLst>
              <a:ext uri="{FF2B5EF4-FFF2-40B4-BE49-F238E27FC236}">
                <a16:creationId xmlns:a16="http://schemas.microsoft.com/office/drawing/2014/main" id="{2522092E-52BA-ADF0-806D-999719528F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1355" y="3429000"/>
            <a:ext cx="5399778" cy="334526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F4A524D-8DCB-DA6D-F732-22FD1B9F4F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082" r="65408"/>
          <a:stretch>
            <a:fillRect/>
          </a:stretch>
        </p:blipFill>
        <p:spPr>
          <a:xfrm>
            <a:off x="156434" y="895274"/>
            <a:ext cx="1056663" cy="3139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408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AF17C-9F98-F125-A9CA-9F99B4DF6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4D748-BC83-3B12-FA89-35D93F9B65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338" y="104887"/>
            <a:ext cx="11481761" cy="932688"/>
          </a:xfrm>
        </p:spPr>
        <p:txBody>
          <a:bodyPr>
            <a:normAutofit/>
          </a:bodyPr>
          <a:lstStyle/>
          <a:p>
            <a:r>
              <a:rPr lang="en-US" sz="3200" dirty="0"/>
              <a:t>9. Relevant Segment Extraction (RSE)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451D0C-4F11-340E-6FD8-3FEBAFC52D4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458" r="50217"/>
          <a:stretch>
            <a:fillRect/>
          </a:stretch>
        </p:blipFill>
        <p:spPr>
          <a:xfrm>
            <a:off x="126885" y="954824"/>
            <a:ext cx="1369532" cy="31397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68D35DE-CCCD-7BCF-E75B-AFBA1CEE55BD}"/>
              </a:ext>
            </a:extLst>
          </p:cNvPr>
          <p:cNvSpPr txBox="1"/>
          <p:nvPr/>
        </p:nvSpPr>
        <p:spPr>
          <a:xfrm>
            <a:off x="2060503" y="1084189"/>
            <a:ext cx="92846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>
                <a:solidFill>
                  <a:srgbClr val="0000FF"/>
                </a:solidFill>
              </a:rPr>
              <a:t>If answer spans multiple consecutive chunk instead single?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5FBCE0E-5AF2-22D7-99AD-82516695F7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547686"/>
              </p:ext>
            </p:extLst>
          </p:nvPr>
        </p:nvGraphicFramePr>
        <p:xfrm>
          <a:off x="1643069" y="1745780"/>
          <a:ext cx="10422046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6716">
                  <a:extLst>
                    <a:ext uri="{9D8B030D-6E8A-4147-A177-3AD203B41FA5}">
                      <a16:colId xmlns:a16="http://schemas.microsoft.com/office/drawing/2014/main" val="3776959891"/>
                    </a:ext>
                  </a:extLst>
                </a:gridCol>
                <a:gridCol w="5875330">
                  <a:extLst>
                    <a:ext uri="{9D8B030D-6E8A-4147-A177-3AD203B41FA5}">
                      <a16:colId xmlns:a16="http://schemas.microsoft.com/office/drawing/2014/main" val="6633856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Standard Top-k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RSE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940037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Returns isolated chunks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Returns </a:t>
                      </a:r>
                      <a:r>
                        <a:rPr lang="en-US" b="1"/>
                        <a:t>contiguous segments</a:t>
                      </a:r>
                      <a:r>
                        <a:rPr lang="en-US"/>
                        <a:t> of the original document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7178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May miss chunks between relevant ones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Fills in "sandwiched" chunks for complete context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997863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Fixed-size results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Dynamic-length</a:t>
                      </a:r>
                      <a:r>
                        <a:rPr lang="en-US" dirty="0"/>
                        <a:t> segments (short or long as needed)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2107477"/>
                  </a:ext>
                </a:extLst>
              </a:tr>
            </a:tbl>
          </a:graphicData>
        </a:graphic>
      </p:graphicFrame>
      <p:grpSp>
        <p:nvGrpSpPr>
          <p:cNvPr id="10" name="Group 9">
            <a:extLst>
              <a:ext uri="{FF2B5EF4-FFF2-40B4-BE49-F238E27FC236}">
                <a16:creationId xmlns:a16="http://schemas.microsoft.com/office/drawing/2014/main" id="{79642B79-2D32-38FF-D9B4-693BB323E847}"/>
              </a:ext>
            </a:extLst>
          </p:cNvPr>
          <p:cNvGrpSpPr/>
          <p:nvPr/>
        </p:nvGrpSpPr>
        <p:grpSpPr>
          <a:xfrm>
            <a:off x="7178661" y="3583124"/>
            <a:ext cx="3335489" cy="3237638"/>
            <a:chOff x="7840670" y="4127526"/>
            <a:chExt cx="2673480" cy="2693236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C0B8E17-9494-CA93-B1C2-6471BE6A75A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40670" y="4615736"/>
              <a:ext cx="2673480" cy="2205026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FBBA288-BB0B-B3E0-70B5-9C19803E1C5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130298" y="4127526"/>
              <a:ext cx="1086798" cy="4882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015155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D41B4-25FA-FB9A-AE7A-5E0507972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80DBA-BCCC-5D43-A18A-5FD9117E5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338" y="104887"/>
            <a:ext cx="11481761" cy="932688"/>
          </a:xfrm>
        </p:spPr>
        <p:txBody>
          <a:bodyPr>
            <a:normAutofit/>
          </a:bodyPr>
          <a:lstStyle/>
          <a:p>
            <a:r>
              <a:rPr lang="en-US" sz="3200" dirty="0"/>
              <a:t>10. Context Enrichment Window (CEW)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E7B5445-51C0-BE6D-6C25-2FE5E2D044A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458" r="50217"/>
          <a:stretch>
            <a:fillRect/>
          </a:stretch>
        </p:blipFill>
        <p:spPr>
          <a:xfrm>
            <a:off x="126885" y="954824"/>
            <a:ext cx="1369532" cy="31397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89C648C-01A6-15F5-A8CB-BC349C677777}"/>
              </a:ext>
            </a:extLst>
          </p:cNvPr>
          <p:cNvSpPr txBox="1"/>
          <p:nvPr/>
        </p:nvSpPr>
        <p:spPr>
          <a:xfrm>
            <a:off x="2060503" y="1084189"/>
            <a:ext cx="92846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>
                <a:solidFill>
                  <a:srgbClr val="0000FF"/>
                </a:solidFill>
              </a:rPr>
              <a:t>CEW pads each retrieved chunked with its </a:t>
            </a:r>
            <a:r>
              <a:rPr lang="en-US" sz="2400" b="1" i="1" dirty="0" err="1">
                <a:solidFill>
                  <a:srgbClr val="0000FF"/>
                </a:solidFill>
              </a:rPr>
              <a:t>neighbouring</a:t>
            </a:r>
            <a:r>
              <a:rPr lang="en-US" sz="2400" b="1" i="1" dirty="0">
                <a:solidFill>
                  <a:srgbClr val="0000FF"/>
                </a:solidFill>
              </a:rPr>
              <a:t> chunks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0C722F8-BD3B-9096-7055-D2893C4E86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1635136"/>
              </p:ext>
            </p:extLst>
          </p:nvPr>
        </p:nvGraphicFramePr>
        <p:xfrm>
          <a:off x="1643069" y="1745780"/>
          <a:ext cx="10422046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6716">
                  <a:extLst>
                    <a:ext uri="{9D8B030D-6E8A-4147-A177-3AD203B41FA5}">
                      <a16:colId xmlns:a16="http://schemas.microsoft.com/office/drawing/2014/main" val="3776959891"/>
                    </a:ext>
                  </a:extLst>
                </a:gridCol>
                <a:gridCol w="5875330">
                  <a:extLst>
                    <a:ext uri="{9D8B030D-6E8A-4147-A177-3AD203B41FA5}">
                      <a16:colId xmlns:a16="http://schemas.microsoft.com/office/drawing/2014/main" val="6633856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Standard Retrieval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Context Enrichment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940037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Returns the matched chunk only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Returns the matched chunk </a:t>
                      </a:r>
                      <a:r>
                        <a:rPr lang="en-US" b="1"/>
                        <a:t>+ neighbors before/after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7178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May cut off mid-sentence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Provides a complete, coherent window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997863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Fixed-size context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Wider, more informative context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2107477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89E2A1D1-CA38-B31A-9039-46B43772DA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1780" y="3613408"/>
            <a:ext cx="6279409" cy="3139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7705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38226E-990C-CE9C-FD5E-1EB677E0E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85FBE-6064-61AA-0FC0-B2FCC3B03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338" y="104887"/>
            <a:ext cx="11481761" cy="932688"/>
          </a:xfrm>
        </p:spPr>
        <p:txBody>
          <a:bodyPr>
            <a:normAutofit/>
          </a:bodyPr>
          <a:lstStyle/>
          <a:p>
            <a:r>
              <a:rPr lang="en-US" sz="3200" dirty="0"/>
              <a:t>11. Semantic chunking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E5FC7D-53D3-061D-12C2-76D3CF3D1C7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458" r="50217"/>
          <a:stretch>
            <a:fillRect/>
          </a:stretch>
        </p:blipFill>
        <p:spPr>
          <a:xfrm>
            <a:off x="126885" y="954824"/>
            <a:ext cx="1369532" cy="31397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14D3DC-2E06-822A-B4B3-D16984E670D8}"/>
              </a:ext>
            </a:extLst>
          </p:cNvPr>
          <p:cNvSpPr txBox="1"/>
          <p:nvPr/>
        </p:nvSpPr>
        <p:spPr>
          <a:xfrm>
            <a:off x="2060503" y="1084189"/>
            <a:ext cx="92846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>
                <a:solidFill>
                  <a:srgbClr val="0000FF"/>
                </a:solidFill>
              </a:rPr>
              <a:t>Splitting based on Semantic meaning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90A9543-616B-7F11-ED9B-6A4EC785AB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0829787"/>
              </p:ext>
            </p:extLst>
          </p:nvPr>
        </p:nvGraphicFramePr>
        <p:xfrm>
          <a:off x="1643069" y="1745780"/>
          <a:ext cx="10422046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6716">
                  <a:extLst>
                    <a:ext uri="{9D8B030D-6E8A-4147-A177-3AD203B41FA5}">
                      <a16:colId xmlns:a16="http://schemas.microsoft.com/office/drawing/2014/main" val="3776959891"/>
                    </a:ext>
                  </a:extLst>
                </a:gridCol>
                <a:gridCol w="5875330">
                  <a:extLst>
                    <a:ext uri="{9D8B030D-6E8A-4147-A177-3AD203B41FA5}">
                      <a16:colId xmlns:a16="http://schemas.microsoft.com/office/drawing/2014/main" val="6633856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Fixed-Size Chunking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Semantic Chunking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940037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Splits every N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Splits where </a:t>
                      </a:r>
                      <a:r>
                        <a:rPr lang="en-US" b="1"/>
                        <a:t>meaning shifts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7178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May cut mid-sentence or mid-idea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Keeps complete ideas together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997863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Chunks may lack coherence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Chunks are semantically coherent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2107477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E655AF45-D8BF-7894-80C1-4261953452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0438" y="3491064"/>
            <a:ext cx="6820823" cy="2901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30472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0EEB1-092D-C60A-5424-6FAB36395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Retrieval</a:t>
            </a:r>
          </a:p>
        </p:txBody>
      </p:sp>
      <p:pic>
        <p:nvPicPr>
          <p:cNvPr id="22530" name="Picture 2" descr="The Books I Read: September – October 2023 | Eric J. Juneau">
            <a:extLst>
              <a:ext uri="{FF2B5EF4-FFF2-40B4-BE49-F238E27FC236}">
                <a16:creationId xmlns:a16="http://schemas.microsoft.com/office/drawing/2014/main" id="{6D4E9E95-26BA-D976-1E75-DB990F4886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8345" y="1484996"/>
            <a:ext cx="9261107" cy="52093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945410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E1D3B5-036D-D70E-68A3-67FEEF295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95C30C-65D3-8708-448D-BE9FE632B9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339" y="104887"/>
            <a:ext cx="6858000" cy="932688"/>
          </a:xfrm>
        </p:spPr>
        <p:txBody>
          <a:bodyPr>
            <a:normAutofit/>
          </a:bodyPr>
          <a:lstStyle/>
          <a:p>
            <a:r>
              <a:rPr lang="en-US" sz="3200" dirty="0"/>
              <a:t>12. Contextual Retrieval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83E74D-109E-4B75-8F95-496E3717CA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576" r="33201"/>
          <a:stretch>
            <a:fillRect/>
          </a:stretch>
        </p:blipFill>
        <p:spPr>
          <a:xfrm>
            <a:off x="53787" y="1101703"/>
            <a:ext cx="1580547" cy="31397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AFD01A7-37DF-3879-11D7-2064FA89029B}"/>
              </a:ext>
            </a:extLst>
          </p:cNvPr>
          <p:cNvSpPr txBox="1"/>
          <p:nvPr/>
        </p:nvSpPr>
        <p:spPr>
          <a:xfrm>
            <a:off x="2060503" y="1084189"/>
            <a:ext cx="92846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>
                <a:solidFill>
                  <a:srgbClr val="0000FF"/>
                </a:solidFill>
              </a:rPr>
              <a:t>Uses LLM to extract only the relevant parts from retrieved chunk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DEE4F23-6987-FD2B-6C93-C3FE290C7D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1491869"/>
              </p:ext>
            </p:extLst>
          </p:nvPr>
        </p:nvGraphicFramePr>
        <p:xfrm>
          <a:off x="1820525" y="1708542"/>
          <a:ext cx="10190802" cy="138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95401">
                  <a:extLst>
                    <a:ext uri="{9D8B030D-6E8A-4147-A177-3AD203B41FA5}">
                      <a16:colId xmlns:a16="http://schemas.microsoft.com/office/drawing/2014/main" val="834325786"/>
                    </a:ext>
                  </a:extLst>
                </a:gridCol>
                <a:gridCol w="5095401">
                  <a:extLst>
                    <a:ext uri="{9D8B030D-6E8A-4147-A177-3AD203B41FA5}">
                      <a16:colId xmlns:a16="http://schemas.microsoft.com/office/drawing/2014/main" val="126682299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Standard Retrieval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Contextual Compression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619567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Returns full chunks (may contain irrelevant text)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Returns only the </a:t>
                      </a:r>
                      <a:r>
                        <a:rPr lang="en-US" b="1"/>
                        <a:t>relevant parts</a:t>
                      </a:r>
                      <a:r>
                        <a:rPr lang="en-US"/>
                        <a:t> of each chunk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31698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LLM must sift through noise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LLM gets focused, </a:t>
                      </a:r>
                      <a:r>
                        <a:rPr lang="en-US" b="1" dirty="0"/>
                        <a:t>compressed context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661878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15CB459-E9AF-1C1C-61F9-E5C220554EFB}"/>
              </a:ext>
            </a:extLst>
          </p:cNvPr>
          <p:cNvSpPr txBox="1"/>
          <p:nvPr/>
        </p:nvSpPr>
        <p:spPr>
          <a:xfrm>
            <a:off x="6979023" y="3292529"/>
            <a:ext cx="525986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solidFill>
                  <a:srgbClr val="0000FF"/>
                </a:solidFill>
              </a:rPr>
              <a:t>Given the following context, extract only the parts that are relevant to the question.</a:t>
            </a:r>
          </a:p>
        </p:txBody>
      </p:sp>
    </p:spTree>
    <p:extLst>
      <p:ext uri="{BB962C8B-B14F-4D97-AF65-F5344CB8AC3E}">
        <p14:creationId xmlns:p14="http://schemas.microsoft.com/office/powerpoint/2010/main" val="34558543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A4DAF-299D-5E80-ED22-309CB9495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B7F4A-D049-D67A-C79F-3A17235C3A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338" y="104887"/>
            <a:ext cx="11572787" cy="932688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13. Document Augmentation through Question Generation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9D0A78-944A-542E-564C-EDE2C9A876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576" r="33201"/>
          <a:stretch>
            <a:fillRect/>
          </a:stretch>
        </p:blipFill>
        <p:spPr>
          <a:xfrm>
            <a:off x="53787" y="1101703"/>
            <a:ext cx="1580547" cy="31397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94FF876-ABD2-6EC2-DC0F-A3D22F0AE3B5}"/>
              </a:ext>
            </a:extLst>
          </p:cNvPr>
          <p:cNvSpPr txBox="1"/>
          <p:nvPr/>
        </p:nvSpPr>
        <p:spPr>
          <a:xfrm>
            <a:off x="2060503" y="1084189"/>
            <a:ext cx="92846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>
                <a:solidFill>
                  <a:srgbClr val="0000FF"/>
                </a:solidFill>
              </a:rPr>
              <a:t>Use LLM to generate related questions and store with original text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FE584EC-F5E3-1963-AD5A-61C65B650D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192472"/>
              </p:ext>
            </p:extLst>
          </p:nvPr>
        </p:nvGraphicFramePr>
        <p:xfrm>
          <a:off x="1949249" y="1749918"/>
          <a:ext cx="9871750" cy="202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1278">
                  <a:extLst>
                    <a:ext uri="{9D8B030D-6E8A-4147-A177-3AD203B41FA5}">
                      <a16:colId xmlns:a16="http://schemas.microsoft.com/office/drawing/2014/main" val="3186048841"/>
                    </a:ext>
                  </a:extLst>
                </a:gridCol>
                <a:gridCol w="6210472">
                  <a:extLst>
                    <a:ext uri="{9D8B030D-6E8A-4147-A177-3AD203B41FA5}">
                      <a16:colId xmlns:a16="http://schemas.microsoft.com/office/drawing/2014/main" val="35533406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Standard RAG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Augmented RAG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559561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Store: original chunks only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Store: original chunks </a:t>
                      </a:r>
                      <a:r>
                        <a:rPr lang="en-US" b="1"/>
                        <a:t>+ generated questions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520440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Query matches chunk text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Query matches a </a:t>
                      </a:r>
                      <a:r>
                        <a:rPr lang="en-US" b="1"/>
                        <a:t>similar question</a:t>
                      </a:r>
                      <a:r>
                        <a:rPr lang="en-US"/>
                        <a:t> → maps back to chunk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33594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May miss semantically equivalent queries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Catches more query phrasings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459568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39608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5CE9A-97D9-8828-D71B-49CD7D9D2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067B3-0C28-A961-26A7-2EA4B18BCE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338" y="104887"/>
            <a:ext cx="11572787" cy="932688"/>
          </a:xfrm>
        </p:spPr>
        <p:txBody>
          <a:bodyPr>
            <a:normAutofit/>
          </a:bodyPr>
          <a:lstStyle/>
          <a:p>
            <a:r>
              <a:rPr lang="en-US" sz="3200" dirty="0"/>
              <a:t>14. Fusion Retrieval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0F2650-EAB3-ED8E-E2EC-CD9EBF9E7A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576" r="33201"/>
          <a:stretch>
            <a:fillRect/>
          </a:stretch>
        </p:blipFill>
        <p:spPr>
          <a:xfrm>
            <a:off x="53787" y="1101703"/>
            <a:ext cx="1580547" cy="31397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145458-79DE-14A6-2275-01DC97A4B2B7}"/>
              </a:ext>
            </a:extLst>
          </p:cNvPr>
          <p:cNvSpPr txBox="1"/>
          <p:nvPr/>
        </p:nvSpPr>
        <p:spPr>
          <a:xfrm>
            <a:off x="2060503" y="1084189"/>
            <a:ext cx="92846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>
                <a:solidFill>
                  <a:srgbClr val="0000FF"/>
                </a:solidFill>
              </a:rPr>
              <a:t>Combine semantic vector search + keyword search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C97B6F0-79A7-999A-40D2-C94293D794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0937470"/>
              </p:ext>
            </p:extLst>
          </p:nvPr>
        </p:nvGraphicFramePr>
        <p:xfrm>
          <a:off x="1854084" y="1783017"/>
          <a:ext cx="10252405" cy="23504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12422">
                  <a:extLst>
                    <a:ext uri="{9D8B030D-6E8A-4147-A177-3AD203B41FA5}">
                      <a16:colId xmlns:a16="http://schemas.microsoft.com/office/drawing/2014/main" val="2804128031"/>
                    </a:ext>
                  </a:extLst>
                </a:gridCol>
                <a:gridCol w="4122515">
                  <a:extLst>
                    <a:ext uri="{9D8B030D-6E8A-4147-A177-3AD203B41FA5}">
                      <a16:colId xmlns:a16="http://schemas.microsoft.com/office/drawing/2014/main" val="4277271652"/>
                    </a:ext>
                  </a:extLst>
                </a:gridCol>
                <a:gridCol w="3417468">
                  <a:extLst>
                    <a:ext uri="{9D8B030D-6E8A-4147-A177-3AD203B41FA5}">
                      <a16:colId xmlns:a16="http://schemas.microsoft.com/office/drawing/2014/main" val="1110892003"/>
                    </a:ext>
                  </a:extLst>
                </a:gridCol>
              </a:tblGrid>
              <a:tr h="38044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Method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Strengths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Weaknesses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33174625"/>
                  </a:ext>
                </a:extLst>
              </a:tr>
              <a:tr h="6566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Vector search</a:t>
                      </a:r>
                      <a:r>
                        <a:rPr lang="en-US"/>
                        <a:t> (FAISS)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Understands meaning, synonyms, paraphrases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May miss exact keyword matches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6818503"/>
                  </a:ext>
                </a:extLst>
              </a:tr>
              <a:tr h="6566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BM25</a:t>
                      </a:r>
                      <a:r>
                        <a:rPr lang="en-US"/>
                        <a:t> (keyword)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Excellent at exact term matching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 semantic understanding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72621527"/>
                  </a:ext>
                </a:extLst>
              </a:tr>
              <a:tr h="6566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Fusion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Both meaning AND keywords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Slightly more complex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7834108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C550A39-3EDF-F333-74D1-261BB114BED2}"/>
              </a:ext>
            </a:extLst>
          </p:cNvPr>
          <p:cNvSpPr txBox="1"/>
          <p:nvPr/>
        </p:nvSpPr>
        <p:spPr>
          <a:xfrm>
            <a:off x="240437" y="5386965"/>
            <a:ext cx="89904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>
                <a:latin typeface="Courier New" panose="02070309020205020404" pitchFamily="49" charset="0"/>
              </a:rPr>
              <a:t>Weighted_avg = alpha * vector_score + (1-alpha) * bm25_score</a:t>
            </a:r>
            <a:endParaRPr lang="en-US" dirty="0"/>
          </a:p>
        </p:txBody>
      </p:sp>
      <p:pic>
        <p:nvPicPr>
          <p:cNvPr id="17410" name="Picture 2" descr="96. Hybrid Search: Combining BM25 and Vector Search | by Kiran vutukuri |  CodeX | Jan, 2026 | Medium">
            <a:extLst>
              <a:ext uri="{FF2B5EF4-FFF2-40B4-BE49-F238E27FC236}">
                <a16:creationId xmlns:a16="http://schemas.microsoft.com/office/drawing/2014/main" id="{F9912411-2487-B752-55D4-97448DE6D0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375" t="4386" r="21688" b="4066"/>
          <a:stretch>
            <a:fillRect/>
          </a:stretch>
        </p:blipFill>
        <p:spPr bwMode="auto">
          <a:xfrm>
            <a:off x="8908420" y="4241409"/>
            <a:ext cx="2672600" cy="2457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49460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ABB0A-51E2-EDE8-6D04-62B6CAA8F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9B4D84A7-C371-FEB8-DBD9-3496FAF6F4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0174460"/>
              </p:ext>
            </p:extLst>
          </p:nvPr>
        </p:nvGraphicFramePr>
        <p:xfrm>
          <a:off x="4567861" y="2896181"/>
          <a:ext cx="7350778" cy="40209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5389">
                  <a:extLst>
                    <a:ext uri="{9D8B030D-6E8A-4147-A177-3AD203B41FA5}">
                      <a16:colId xmlns:a16="http://schemas.microsoft.com/office/drawing/2014/main" val="1852633696"/>
                    </a:ext>
                  </a:extLst>
                </a:gridCol>
                <a:gridCol w="3675389">
                  <a:extLst>
                    <a:ext uri="{9D8B030D-6E8A-4147-A177-3AD203B41FA5}">
                      <a16:colId xmlns:a16="http://schemas.microsoft.com/office/drawing/2014/main" val="2245092209"/>
                    </a:ext>
                  </a:extLst>
                </a:gridCol>
              </a:tblGrid>
              <a:tr h="467544">
                <a:tc>
                  <a:txBody>
                    <a:bodyPr/>
                    <a:lstStyle/>
                    <a:p>
                      <a:r>
                        <a:rPr lang="en-US" dirty="0"/>
                        <a:t>Method 1: Using LLM to </a:t>
                      </a:r>
                      <a:r>
                        <a:rPr lang="en-US" dirty="0" err="1"/>
                        <a:t>rerank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Method 2: Using Cross Encoder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8726521"/>
                  </a:ext>
                </a:extLst>
              </a:tr>
              <a:tr h="355343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5981854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2D4A4CA0-C4BF-05BF-DE5C-F9CA13CE2F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338" y="104887"/>
            <a:ext cx="11572787" cy="932688"/>
          </a:xfrm>
        </p:spPr>
        <p:txBody>
          <a:bodyPr>
            <a:normAutofit/>
          </a:bodyPr>
          <a:lstStyle/>
          <a:p>
            <a:r>
              <a:rPr lang="en-US" sz="3200" dirty="0"/>
              <a:t>15. </a:t>
            </a:r>
            <a:r>
              <a:rPr lang="en-US" sz="3200" dirty="0" err="1"/>
              <a:t>Reranker</a:t>
            </a:r>
            <a:endParaRPr lang="en-US" sz="3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D5523A-556A-B841-99E1-04A350730E4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576" r="33201"/>
          <a:stretch>
            <a:fillRect/>
          </a:stretch>
        </p:blipFill>
        <p:spPr>
          <a:xfrm>
            <a:off x="53787" y="1101703"/>
            <a:ext cx="1580547" cy="31397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7DCEDB2-34E1-2E11-0F58-D31E13E154D0}"/>
              </a:ext>
            </a:extLst>
          </p:cNvPr>
          <p:cNvSpPr txBox="1"/>
          <p:nvPr/>
        </p:nvSpPr>
        <p:spPr>
          <a:xfrm>
            <a:off x="3624500" y="571231"/>
            <a:ext cx="100777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i="1" dirty="0">
                <a:solidFill>
                  <a:srgbClr val="0000FF"/>
                </a:solidFill>
              </a:rPr>
              <a:t>After initial retrieval, apply </a:t>
            </a:r>
            <a:r>
              <a:rPr lang="en-US" sz="2000" b="1" i="1" dirty="0" err="1">
                <a:solidFill>
                  <a:srgbClr val="C00000"/>
                </a:solidFill>
              </a:rPr>
              <a:t>Reranker</a:t>
            </a:r>
            <a:r>
              <a:rPr lang="en-US" sz="2000" b="1" i="1" dirty="0">
                <a:solidFill>
                  <a:srgbClr val="0000FF"/>
                </a:solidFill>
              </a:rPr>
              <a:t> to rearrange the retrieved chunks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190AB72-8CA0-DB89-8894-14018BEAD1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8945" y="3803970"/>
            <a:ext cx="2064394" cy="248279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B1AF302-7F83-2175-A7CB-1BE623B65A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9873" y="3539857"/>
            <a:ext cx="2269167" cy="3213256"/>
          </a:xfrm>
          <a:prstGeom prst="rect">
            <a:avLst/>
          </a:prstGeom>
        </p:spPr>
      </p:pic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AE9E69BB-85E7-929B-8FD2-7F96EBEEB4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268168"/>
              </p:ext>
            </p:extLst>
          </p:nvPr>
        </p:nvGraphicFramePr>
        <p:xfrm>
          <a:off x="2114291" y="1315021"/>
          <a:ext cx="9892896" cy="152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0536">
                  <a:extLst>
                    <a:ext uri="{9D8B030D-6E8A-4147-A177-3AD203B41FA5}">
                      <a16:colId xmlns:a16="http://schemas.microsoft.com/office/drawing/2014/main" val="1668157285"/>
                    </a:ext>
                  </a:extLst>
                </a:gridCol>
                <a:gridCol w="3028692">
                  <a:extLst>
                    <a:ext uri="{9D8B030D-6E8A-4147-A177-3AD203B41FA5}">
                      <a16:colId xmlns:a16="http://schemas.microsoft.com/office/drawing/2014/main" val="1230235615"/>
                    </a:ext>
                  </a:extLst>
                </a:gridCol>
                <a:gridCol w="2341857">
                  <a:extLst>
                    <a:ext uri="{9D8B030D-6E8A-4147-A177-3AD203B41FA5}">
                      <a16:colId xmlns:a16="http://schemas.microsoft.com/office/drawing/2014/main" val="125652281"/>
                    </a:ext>
                  </a:extLst>
                </a:gridCol>
                <a:gridCol w="2821811">
                  <a:extLst>
                    <a:ext uri="{9D8B030D-6E8A-4147-A177-3AD203B41FA5}">
                      <a16:colId xmlns:a16="http://schemas.microsoft.com/office/drawing/2014/main" val="207249158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Method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How it scores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Accuracy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20869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LLM-based</a:t>
                      </a:r>
                      <a:endParaRPr lang="en-US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Ask the LLM to rate each document 1-10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Slow (one LLM call per doc)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High (leverages LLM reasoning)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43707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Cross-Encoder</a:t>
                      </a:r>
                      <a:endParaRPr lang="en-US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Feed (query, doc) pairs into a specialized 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Fast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High (trained specifically for relevance)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44295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63595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59F92-D599-CFF3-AC6B-741A7E868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3ABC5-B122-DEFC-9178-43403DB968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338" y="104887"/>
            <a:ext cx="11572787" cy="932688"/>
          </a:xfrm>
        </p:spPr>
        <p:txBody>
          <a:bodyPr>
            <a:normAutofit/>
          </a:bodyPr>
          <a:lstStyle/>
          <a:p>
            <a:r>
              <a:rPr lang="en-US" sz="3200" dirty="0"/>
              <a:t>16. Adaptive RAG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E5C0231-DA38-69AB-5FCF-6F066601853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576" r="33201"/>
          <a:stretch>
            <a:fillRect/>
          </a:stretch>
        </p:blipFill>
        <p:spPr>
          <a:xfrm>
            <a:off x="53787" y="1101703"/>
            <a:ext cx="1580547" cy="31397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1E39EA5-F16C-437E-A61B-96A0DF1BA275}"/>
              </a:ext>
            </a:extLst>
          </p:cNvPr>
          <p:cNvSpPr txBox="1"/>
          <p:nvPr/>
        </p:nvSpPr>
        <p:spPr>
          <a:xfrm>
            <a:off x="2726650" y="981565"/>
            <a:ext cx="100777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i="1" dirty="0">
                <a:solidFill>
                  <a:srgbClr val="0000FF"/>
                </a:solidFill>
              </a:rPr>
              <a:t>**Adaptive RAG** first classifies the query, then picks the right strategy.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5072EAF-1D2C-901E-27D2-F544F2523F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7175500"/>
              </p:ext>
            </p:extLst>
          </p:nvPr>
        </p:nvGraphicFramePr>
        <p:xfrm>
          <a:off x="1746509" y="1547176"/>
          <a:ext cx="10325502" cy="2931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012">
                  <a:extLst>
                    <a:ext uri="{9D8B030D-6E8A-4147-A177-3AD203B41FA5}">
                      <a16:colId xmlns:a16="http://schemas.microsoft.com/office/drawing/2014/main" val="2431501945"/>
                    </a:ext>
                  </a:extLst>
                </a:gridCol>
                <a:gridCol w="4220308">
                  <a:extLst>
                    <a:ext uri="{9D8B030D-6E8A-4147-A177-3AD203B41FA5}">
                      <a16:colId xmlns:a16="http://schemas.microsoft.com/office/drawing/2014/main" val="1333273166"/>
                    </a:ext>
                  </a:extLst>
                </a:gridCol>
                <a:gridCol w="4467182">
                  <a:extLst>
                    <a:ext uri="{9D8B030D-6E8A-4147-A177-3AD203B41FA5}">
                      <a16:colId xmlns:a16="http://schemas.microsoft.com/office/drawing/2014/main" val="3069020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Query 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Example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Strategy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089717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Factual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"What is the distance to the Sun?"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Enhance the query for precision, then rank by relevance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438593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Analytical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"How does distance from the Sun affect climate?"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Break into sub-questions, retrieve broadly, select diverse results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34510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Opinion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"What are theories about the origin of life?"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Find multiple viewpoints, ensure diversity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96023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Contextual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"How does Earth's position affect habitability?"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Incorporate user context, personalize retrieval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16998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491851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B910C65-F7A8-4AB1-8CE3-0DB5B59F9F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5453" y="0"/>
            <a:ext cx="9041595" cy="68580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47ACDDC1-A229-9679-8967-7FF06B0D29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338" y="104887"/>
            <a:ext cx="11572787" cy="932688"/>
          </a:xfrm>
        </p:spPr>
        <p:txBody>
          <a:bodyPr>
            <a:normAutofit/>
          </a:bodyPr>
          <a:lstStyle/>
          <a:p>
            <a:r>
              <a:rPr lang="en-US" sz="3200" dirty="0"/>
              <a:t>16. Adaptive RAG</a:t>
            </a:r>
          </a:p>
        </p:txBody>
      </p:sp>
    </p:spTree>
    <p:extLst>
      <p:ext uri="{BB962C8B-B14F-4D97-AF65-F5344CB8AC3E}">
        <p14:creationId xmlns:p14="http://schemas.microsoft.com/office/powerpoint/2010/main" val="22946625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100F5-C24E-4FBB-3274-BA037BC93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Advanced RAG</a:t>
            </a:r>
          </a:p>
        </p:txBody>
      </p:sp>
      <p:pic>
        <p:nvPicPr>
          <p:cNvPr id="13314" name="Picture 2" descr="Multimodal Text Poster for Kinder, First, and Second Grade">
            <a:extLst>
              <a:ext uri="{FF2B5EF4-FFF2-40B4-BE49-F238E27FC236}">
                <a16:creationId xmlns:a16="http://schemas.microsoft.com/office/drawing/2014/main" id="{F1157186-72D8-C41F-F44D-0D92B95C87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85699" y="2222083"/>
            <a:ext cx="6858000" cy="3857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18086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59C43-527E-2F2F-7409-915850EBD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70ADD-D351-0966-9047-149E3EF09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338" y="104887"/>
            <a:ext cx="11572787" cy="932688"/>
          </a:xfrm>
        </p:spPr>
        <p:txBody>
          <a:bodyPr>
            <a:normAutofit/>
          </a:bodyPr>
          <a:lstStyle/>
          <a:p>
            <a:r>
              <a:rPr lang="en-US" sz="3200" dirty="0"/>
              <a:t>17. Multimodal RAG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AE8A72-FD71-CBDC-C2A5-8190AFE9D7BA}"/>
              </a:ext>
            </a:extLst>
          </p:cNvPr>
          <p:cNvSpPr txBox="1"/>
          <p:nvPr/>
        </p:nvSpPr>
        <p:spPr>
          <a:xfrm>
            <a:off x="5920842" y="981565"/>
            <a:ext cx="68835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i="1" dirty="0">
                <a:solidFill>
                  <a:srgbClr val="0000FF"/>
                </a:solidFill>
              </a:rPr>
              <a:t>Embed both Texts and Images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BCDF6D8-B735-297A-F0DB-1AB86F1500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4924322"/>
              </p:ext>
            </p:extLst>
          </p:nvPr>
        </p:nvGraphicFramePr>
        <p:xfrm>
          <a:off x="1958192" y="1824393"/>
          <a:ext cx="9800744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3372">
                  <a:extLst>
                    <a:ext uri="{9D8B030D-6E8A-4147-A177-3AD203B41FA5}">
                      <a16:colId xmlns:a16="http://schemas.microsoft.com/office/drawing/2014/main" val="1196307721"/>
                    </a:ext>
                  </a:extLst>
                </a:gridCol>
                <a:gridCol w="6177372">
                  <a:extLst>
                    <a:ext uri="{9D8B030D-6E8A-4147-A177-3AD203B41FA5}">
                      <a16:colId xmlns:a16="http://schemas.microsoft.com/office/drawing/2014/main" val="20404279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Standard RAG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Multi-Modal RAG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73253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Extract text only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Extract text </a:t>
                      </a:r>
                      <a:r>
                        <a:rPr lang="en-US" b="1" dirty="0"/>
                        <a:t>+ images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353479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Images are ignored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Images are </a:t>
                      </a:r>
                      <a:r>
                        <a:rPr lang="en-US" b="1" dirty="0"/>
                        <a:t>captioned by a vision model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443773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Vector store has text chunks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Vector store has text chunks </a:t>
                      </a:r>
                      <a:r>
                        <a:rPr lang="en-US" b="1" dirty="0"/>
                        <a:t>+ image captions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84479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39173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9817F-5FCA-C4BA-4D80-6DAA773A9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DF9E8F-502A-8A45-B05B-F803C9906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338" y="104887"/>
            <a:ext cx="11572787" cy="932688"/>
          </a:xfrm>
        </p:spPr>
        <p:txBody>
          <a:bodyPr>
            <a:normAutofit/>
          </a:bodyPr>
          <a:lstStyle/>
          <a:p>
            <a:r>
              <a:rPr lang="en-US" sz="3200" dirty="0"/>
              <a:t>18. RAG Evaluation metrics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B8FFF4-CC16-EB7A-BE90-5584AECCD31F}"/>
              </a:ext>
            </a:extLst>
          </p:cNvPr>
          <p:cNvSpPr txBox="1"/>
          <p:nvPr/>
        </p:nvSpPr>
        <p:spPr>
          <a:xfrm>
            <a:off x="4861628" y="1154142"/>
            <a:ext cx="68835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i="1" dirty="0">
                <a:solidFill>
                  <a:srgbClr val="0000FF"/>
                </a:solidFill>
              </a:rPr>
              <a:t>RAGAS = RAG + </a:t>
            </a:r>
            <a:r>
              <a:rPr lang="en-US" sz="2000" b="1" i="1" dirty="0" err="1">
                <a:solidFill>
                  <a:srgbClr val="0000FF"/>
                </a:solidFill>
              </a:rPr>
              <a:t>AS</a:t>
            </a:r>
            <a:r>
              <a:rPr lang="en-US" sz="2000" b="1" i="1" dirty="0" err="1"/>
              <a:t>sement</a:t>
            </a:r>
            <a:endParaRPr lang="en-US" sz="2000" b="1" i="1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2019174-3866-1F63-F861-BB6E531CFF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2492081"/>
              </p:ext>
            </p:extLst>
          </p:nvPr>
        </p:nvGraphicFramePr>
        <p:xfrm>
          <a:off x="114586" y="1670820"/>
          <a:ext cx="11938116" cy="19511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8539">
                  <a:extLst>
                    <a:ext uri="{9D8B030D-6E8A-4147-A177-3AD203B41FA5}">
                      <a16:colId xmlns:a16="http://schemas.microsoft.com/office/drawing/2014/main" val="867866902"/>
                    </a:ext>
                  </a:extLst>
                </a:gridCol>
                <a:gridCol w="7643528">
                  <a:extLst>
                    <a:ext uri="{9D8B030D-6E8A-4147-A177-3AD203B41FA5}">
                      <a16:colId xmlns:a16="http://schemas.microsoft.com/office/drawing/2014/main" val="2434889208"/>
                    </a:ext>
                  </a:extLst>
                </a:gridCol>
                <a:gridCol w="1746049">
                  <a:extLst>
                    <a:ext uri="{9D8B030D-6E8A-4147-A177-3AD203B41FA5}">
                      <a16:colId xmlns:a16="http://schemas.microsoft.com/office/drawing/2014/main" val="413666272"/>
                    </a:ext>
                  </a:extLst>
                </a:gridCol>
              </a:tblGrid>
              <a:tr h="3061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What it measures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Score range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6210704"/>
                  </a:ext>
                </a:extLst>
              </a:tr>
              <a:tr h="5284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Answer Correctness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Is the answer factually correct compared to the ground truth?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0 to 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0274244"/>
                  </a:ext>
                </a:extLst>
              </a:tr>
              <a:tr h="5284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Faithfulness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Is the answer grounded in the retrieved context (no hallucination)?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0 to 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17906989"/>
                  </a:ext>
                </a:extLst>
              </a:tr>
              <a:tr h="5284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Context Precision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Are the retrieved chunks actually relevant and well-ranked?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0 to 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0119157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763ACB5-3965-F671-4F1D-AD91A12A77C3}"/>
              </a:ext>
            </a:extLst>
          </p:cNvPr>
          <p:cNvSpPr txBox="1"/>
          <p:nvPr/>
        </p:nvSpPr>
        <p:spPr>
          <a:xfrm>
            <a:off x="520297" y="4396043"/>
            <a:ext cx="1099452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from ragas import evaluate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ragas.metrics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import faithfulness,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answer_correctness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context_precision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ragas.llms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LangchainLLMWrapper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ragas.embeddings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LangchainEmbeddingsWrapper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360564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4CCC2-D940-F115-6FC8-5B0A9BFB0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E837963C-1285-0166-ECE7-F0A2FB719163}"/>
              </a:ext>
            </a:extLst>
          </p:cNvPr>
          <p:cNvSpPr txBox="1">
            <a:spLocks/>
          </p:cNvSpPr>
          <p:nvPr/>
        </p:nvSpPr>
        <p:spPr>
          <a:xfrm>
            <a:off x="372338" y="104887"/>
            <a:ext cx="11572787" cy="932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/>
              <a:t>19. Graph - RAG</a:t>
            </a:r>
            <a:endParaRPr lang="en-US" sz="3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9E9CDE-F87C-41E7-02D8-24F5A95F8CA7}"/>
              </a:ext>
            </a:extLst>
          </p:cNvPr>
          <p:cNvSpPr txBox="1"/>
          <p:nvPr/>
        </p:nvSpPr>
        <p:spPr>
          <a:xfrm>
            <a:off x="4088801" y="531538"/>
            <a:ext cx="89109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i="1" dirty="0">
                <a:solidFill>
                  <a:srgbClr val="0000FF"/>
                </a:solidFill>
              </a:rPr>
              <a:t>Build a knowledge Graph: chunk is a node, semantic concept is edge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692792B-1B6C-B870-4351-37B7BCFAF3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8119" y="969770"/>
            <a:ext cx="7795157" cy="5811429"/>
          </a:xfrm>
          <a:prstGeom prst="rect">
            <a:avLst/>
          </a:pr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7D4F1422-A2B0-6E23-FA2F-77912BD46252}"/>
              </a:ext>
            </a:extLst>
          </p:cNvPr>
          <p:cNvSpPr/>
          <p:nvPr/>
        </p:nvSpPr>
        <p:spPr>
          <a:xfrm>
            <a:off x="248254" y="1170930"/>
            <a:ext cx="2896290" cy="124954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/>
              <a:t>Node = chunk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/>
              <a:t>Extract NER 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/>
              <a:t>Key concept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2A25882-5EA6-2A80-D119-80D12C96FBE1}"/>
              </a:ext>
            </a:extLst>
          </p:cNvPr>
          <p:cNvCxnSpPr>
            <a:cxnSpLocks/>
            <a:endCxn id="18" idx="6"/>
          </p:cNvCxnSpPr>
          <p:nvPr/>
        </p:nvCxnSpPr>
        <p:spPr>
          <a:xfrm flipH="1" flipV="1">
            <a:off x="3144544" y="1795701"/>
            <a:ext cx="1733635" cy="645457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F858CBB-0D87-3249-BBEA-B03B4AF15E4D}"/>
              </a:ext>
            </a:extLst>
          </p:cNvPr>
          <p:cNvSpPr/>
          <p:nvPr/>
        </p:nvSpPr>
        <p:spPr>
          <a:xfrm>
            <a:off x="628907" y="2808099"/>
            <a:ext cx="2428746" cy="83164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Edge =  semantic </a:t>
            </a:r>
            <a:r>
              <a:rPr lang="en-US" dirty="0" err="1"/>
              <a:t>similarity+concept</a:t>
            </a:r>
            <a:endParaRPr lang="en-US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5CE77D3-C53E-547B-90BA-4E7327398FBA}"/>
              </a:ext>
            </a:extLst>
          </p:cNvPr>
          <p:cNvCxnSpPr>
            <a:cxnSpLocks/>
            <a:endCxn id="21" idx="3"/>
          </p:cNvCxnSpPr>
          <p:nvPr/>
        </p:nvCxnSpPr>
        <p:spPr>
          <a:xfrm flipH="1">
            <a:off x="3057653" y="3178597"/>
            <a:ext cx="2788714" cy="45327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94BF368A-A868-F85E-9BC8-70036E27D98D}"/>
              </a:ext>
            </a:extLst>
          </p:cNvPr>
          <p:cNvSpPr txBox="1"/>
          <p:nvPr/>
        </p:nvSpPr>
        <p:spPr>
          <a:xfrm>
            <a:off x="119989" y="4377187"/>
            <a:ext cx="379827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Starting from strongest nodes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LLM to ask if the node match the query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not, traverse to the neighbor’s node with strongest edge weights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8C89BD1-8627-A676-59AB-08C5B1F27020}"/>
              </a:ext>
            </a:extLst>
          </p:cNvPr>
          <p:cNvCxnSpPr>
            <a:cxnSpLocks/>
            <a:endCxn id="32" idx="3"/>
          </p:cNvCxnSpPr>
          <p:nvPr/>
        </p:nvCxnSpPr>
        <p:spPr>
          <a:xfrm flipH="1">
            <a:off x="3918267" y="2888364"/>
            <a:ext cx="4203757" cy="2365986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8254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10930-1BA2-C725-8A11-39156A914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3E6DEB26-2532-63C8-21BA-1BCCBFEEBDCA}"/>
              </a:ext>
            </a:extLst>
          </p:cNvPr>
          <p:cNvSpPr txBox="1">
            <a:spLocks/>
          </p:cNvSpPr>
          <p:nvPr/>
        </p:nvSpPr>
        <p:spPr>
          <a:xfrm>
            <a:off x="372338" y="104887"/>
            <a:ext cx="11572787" cy="932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20. Self-RAG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0E6EFC-6EFC-2727-2098-A5CB378C3E6E}"/>
              </a:ext>
            </a:extLst>
          </p:cNvPr>
          <p:cNvSpPr txBox="1"/>
          <p:nvPr/>
        </p:nvSpPr>
        <p:spPr>
          <a:xfrm>
            <a:off x="1819374" y="1433526"/>
            <a:ext cx="89109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i="1" dirty="0">
                <a:solidFill>
                  <a:srgbClr val="0000FF"/>
                </a:solidFill>
              </a:rPr>
              <a:t>Instead of blindly retrieving, Self-RAG asks itself series of question at each step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CAC44EC-1D7D-F40D-45D8-FB90C9D3A0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4092398"/>
              </p:ext>
            </p:extLst>
          </p:nvPr>
        </p:nvGraphicFramePr>
        <p:xfrm>
          <a:off x="1489980" y="2076785"/>
          <a:ext cx="9569708" cy="35152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0950">
                  <a:extLst>
                    <a:ext uri="{9D8B030D-6E8A-4147-A177-3AD203B41FA5}">
                      <a16:colId xmlns:a16="http://schemas.microsoft.com/office/drawing/2014/main" val="1389052852"/>
                    </a:ext>
                  </a:extLst>
                </a:gridCol>
                <a:gridCol w="6098758">
                  <a:extLst>
                    <a:ext uri="{9D8B030D-6E8A-4147-A177-3AD203B41FA5}">
                      <a16:colId xmlns:a16="http://schemas.microsoft.com/office/drawing/2014/main" val="664517322"/>
                    </a:ext>
                  </a:extLst>
                </a:gridCol>
              </a:tblGrid>
              <a:tr h="3809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Step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Question the system asks itself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24157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1. </a:t>
                      </a:r>
                      <a:r>
                        <a:rPr lang="en-US" b="1"/>
                        <a:t>Retrieval Decision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"Do I even </a:t>
                      </a:r>
                      <a:r>
                        <a:rPr lang="en-US" i="1"/>
                        <a:t>need</a:t>
                      </a:r>
                      <a:r>
                        <a:rPr lang="en-US"/>
                        <a:t> to retrieve documents for this query?"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12719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2. </a:t>
                      </a:r>
                      <a:r>
                        <a:rPr lang="en-US" b="1"/>
                        <a:t>Document Retrieval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Fetch top-k similar documents from the vector store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0310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3. </a:t>
                      </a:r>
                      <a:r>
                        <a:rPr lang="en-US" b="1" dirty="0"/>
                        <a:t>Relevance Check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"Is each retrieved document actually </a:t>
                      </a:r>
                      <a:r>
                        <a:rPr lang="en-US" i="1"/>
                        <a:t>relevant</a:t>
                      </a:r>
                      <a:r>
                        <a:rPr lang="en-US"/>
                        <a:t> to the query?"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30553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4. </a:t>
                      </a:r>
                      <a:r>
                        <a:rPr lang="en-US" b="1"/>
                        <a:t>Response Generation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Generate a response for each relevant context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8408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5. </a:t>
                      </a:r>
                      <a:r>
                        <a:rPr lang="en-US" b="1"/>
                        <a:t>Support Assessment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"Is my response </a:t>
                      </a:r>
                      <a:r>
                        <a:rPr lang="en-US" i="1"/>
                        <a:t>supported</a:t>
                      </a:r>
                      <a:r>
                        <a:rPr lang="en-US"/>
                        <a:t> by the context, or did I hallucinate?"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50425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6. </a:t>
                      </a:r>
                      <a:r>
                        <a:rPr lang="en-US" b="1"/>
                        <a:t>Utility Evaluation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"How </a:t>
                      </a:r>
                      <a:r>
                        <a:rPr lang="en-US" i="1"/>
                        <a:t>useful</a:t>
                      </a:r>
                      <a:r>
                        <a:rPr lang="en-US"/>
                        <a:t> is this response to the user?" (1–5 score)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04393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7. </a:t>
                      </a:r>
                      <a:r>
                        <a:rPr lang="en-US" b="1"/>
                        <a:t>Best Response Selection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Pick the response with the best support + utility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96598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704342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B8570-33BF-DF77-6033-34523C674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6A20912-4D58-D188-B162-A838AA9CAC94}"/>
              </a:ext>
            </a:extLst>
          </p:cNvPr>
          <p:cNvSpPr txBox="1">
            <a:spLocks/>
          </p:cNvSpPr>
          <p:nvPr/>
        </p:nvSpPr>
        <p:spPr>
          <a:xfrm>
            <a:off x="372338" y="104887"/>
            <a:ext cx="11572787" cy="932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21. C-RAG (dynamic Correction)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3DDAB1B-33C4-E2ED-4773-D3C97DEB029D}"/>
              </a:ext>
            </a:extLst>
          </p:cNvPr>
          <p:cNvSpPr txBox="1"/>
          <p:nvPr/>
        </p:nvSpPr>
        <p:spPr>
          <a:xfrm>
            <a:off x="1819374" y="1433526"/>
            <a:ext cx="89109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i="1" dirty="0">
                <a:solidFill>
                  <a:srgbClr val="0000FF"/>
                </a:solidFill>
              </a:rPr>
              <a:t>CRAG extends RAG by evaluating whether retrieved docs are useful and correcting the approach if they are not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1F5672C-6FBE-F504-3C47-5879C5CAAC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9649494"/>
              </p:ext>
            </p:extLst>
          </p:nvPr>
        </p:nvGraphicFramePr>
        <p:xfrm>
          <a:off x="1021977" y="2916708"/>
          <a:ext cx="10128738" cy="202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1353">
                  <a:extLst>
                    <a:ext uri="{9D8B030D-6E8A-4147-A177-3AD203B41FA5}">
                      <a16:colId xmlns:a16="http://schemas.microsoft.com/office/drawing/2014/main" val="2845323104"/>
                    </a:ext>
                  </a:extLst>
                </a:gridCol>
                <a:gridCol w="4111468">
                  <a:extLst>
                    <a:ext uri="{9D8B030D-6E8A-4147-A177-3AD203B41FA5}">
                      <a16:colId xmlns:a16="http://schemas.microsoft.com/office/drawing/2014/main" val="2308108426"/>
                    </a:ext>
                  </a:extLst>
                </a:gridCol>
                <a:gridCol w="3465917">
                  <a:extLst>
                    <a:ext uri="{9D8B030D-6E8A-4147-A177-3AD203B41FA5}">
                      <a16:colId xmlns:a16="http://schemas.microsoft.com/office/drawing/2014/main" val="9737126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Relevance Score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Source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5300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High</a:t>
                      </a:r>
                      <a:r>
                        <a:rPr lang="en-US"/>
                        <a:t> (&gt; 0.7)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Use the retrieved document directly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Local knowledge base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08607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Low</a:t>
                      </a:r>
                      <a:r>
                        <a:rPr lang="en-US"/>
                        <a:t> (&lt; 0.3)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Discard documents, do a </a:t>
                      </a:r>
                      <a:r>
                        <a:rPr lang="en-US" b="1"/>
                        <a:t>web search</a:t>
                      </a:r>
                      <a:r>
                        <a:rPr lang="en-US"/>
                        <a:t> instead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Web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329360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Ambiguous</a:t>
                      </a:r>
                      <a:r>
                        <a:rPr lang="en-US"/>
                        <a:t> (0.3–0.7)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Combine retrieved document </a:t>
                      </a:r>
                      <a:r>
                        <a:rPr lang="en-US" b="1"/>
                        <a:t>+</a:t>
                      </a:r>
                      <a:r>
                        <a:rPr lang="en-US"/>
                        <a:t> web search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Both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94507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33408704"/>
      </p:ext>
    </p:extLst>
  </p:cSld>
  <p:clrMapOvr>
    <a:masterClrMapping/>
  </p:clrMapOvr>
</p:sld>
</file>

<file path=ppt/theme/theme1.xml><?xml version="1.0" encoding="utf-8"?>
<a:theme xmlns:a="http://schemas.openxmlformats.org/drawingml/2006/main" name="Helena">
  <a:themeElements>
    <a:clrScheme name="Helen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lena_win32_DN_V3" id="{9F427321-9060-43C1-8B15-4D38A9FA231C}" vid="{F91C65FD-DCCD-4832-9662-5F5E1061559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EA2E174-8201-44C8-8E86-D532E6482AAF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7815C017-F059-461C-B5CA-F74FA829193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7CFCFE-9E11-486F-94A1-AD5EF62DEC4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{45781AE1-61C4-41F4-88FA-A0307D2BC7DB}9db5ba7a-f6a8-423e-8130-f3099013613b-TF6f351658-02aa-4255-a406-604a46294ca9_win32</Template>
  <TotalTime>4197</TotalTime>
  <Words>1660</Words>
  <Application>Microsoft Office PowerPoint</Application>
  <PresentationFormat>Widescreen</PresentationFormat>
  <Paragraphs>308</Paragraphs>
  <Slides>34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Aptos</vt:lpstr>
      <vt:lpstr>Arial</vt:lpstr>
      <vt:lpstr>Courier New</vt:lpstr>
      <vt:lpstr>Neue Haas Grotesk Text Pro</vt:lpstr>
      <vt:lpstr>Neue Haas Grotesk Text Pro (Body)</vt:lpstr>
      <vt:lpstr>Helena</vt:lpstr>
      <vt:lpstr>RAG Advanced</vt:lpstr>
      <vt:lpstr>Agenda</vt:lpstr>
      <vt:lpstr>RAG</vt:lpstr>
      <vt:lpstr>PowerPoint Presentation</vt:lpstr>
      <vt:lpstr>Disadvantage of simple RAG</vt:lpstr>
      <vt:lpstr>Advanced RAG</vt:lpstr>
      <vt:lpstr>Simple RAGs Technique</vt:lpstr>
      <vt:lpstr>1. Simple RAG</vt:lpstr>
      <vt:lpstr>2. Simple RAG for CSV tabular</vt:lpstr>
      <vt:lpstr>3. Reliable RAG</vt:lpstr>
      <vt:lpstr>3. Reliable RAG</vt:lpstr>
      <vt:lpstr>Query</vt:lpstr>
      <vt:lpstr>4. Query Transformation</vt:lpstr>
      <vt:lpstr>5. Hypothetical Document Embedding (HyDE)</vt:lpstr>
      <vt:lpstr>6. Hypothetical Prompt Embedding (HyPE)</vt:lpstr>
      <vt:lpstr>All about CHUNKS</vt:lpstr>
      <vt:lpstr>7. Proposition Chunking</vt:lpstr>
      <vt:lpstr>8. Contextual Chunk Headers (CCH)</vt:lpstr>
      <vt:lpstr>9. Relevant Segment Extraction (RSE)</vt:lpstr>
      <vt:lpstr>10. Context Enrichment Window (CEW)</vt:lpstr>
      <vt:lpstr>11. Semantic chunking</vt:lpstr>
      <vt:lpstr>Retrieval</vt:lpstr>
      <vt:lpstr>12. Contextual Retrieval</vt:lpstr>
      <vt:lpstr>13. Document Augmentation through Question Generation</vt:lpstr>
      <vt:lpstr>14. Fusion Retrieval</vt:lpstr>
      <vt:lpstr>15. Reranker</vt:lpstr>
      <vt:lpstr>16. Adaptive RAG</vt:lpstr>
      <vt:lpstr>16. Adaptive RAG</vt:lpstr>
      <vt:lpstr>Advanced RAG</vt:lpstr>
      <vt:lpstr>17. Multimodal RAG</vt:lpstr>
      <vt:lpstr>18. RAG Evaluation metrics</vt:lpstr>
      <vt:lpstr>PowerPoint Presentation</vt:lpstr>
      <vt:lpstr>PowerPoint Presentation</vt:lpstr>
      <vt:lpstr>PowerPoint Presentation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Vu, Tue</dc:creator>
  <cp:lastModifiedBy>Vu, Tue</cp:lastModifiedBy>
  <cp:revision>15</cp:revision>
  <dcterms:created xsi:type="dcterms:W3CDTF">2026-02-20T22:14:24Z</dcterms:created>
  <dcterms:modified xsi:type="dcterms:W3CDTF">2026-02-23T20:12:05Z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