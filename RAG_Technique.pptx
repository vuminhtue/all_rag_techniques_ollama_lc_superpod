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handoutMasterIdLst>
    <p:handoutMasterId r:id="rId41"/>
  </p:handoutMasterIdLst>
  <p:sldIdLst>
    <p:sldId id="256" r:id="rId5"/>
    <p:sldId id="257" r:id="rId6"/>
    <p:sldId id="1509" r:id="rId7"/>
    <p:sldId id="1510" r:id="rId8"/>
    <p:sldId id="260" r:id="rId9"/>
    <p:sldId id="1511" r:id="rId10"/>
    <p:sldId id="263" r:id="rId11"/>
    <p:sldId id="1512" r:id="rId12"/>
    <p:sldId id="1513" r:id="rId13"/>
    <p:sldId id="1514" r:id="rId14"/>
    <p:sldId id="1516" r:id="rId15"/>
    <p:sldId id="1526" r:id="rId16"/>
    <p:sldId id="1517" r:id="rId17"/>
    <p:sldId id="1518" r:id="rId18"/>
    <p:sldId id="1539" r:id="rId19"/>
    <p:sldId id="1525" r:id="rId20"/>
    <p:sldId id="1515" r:id="rId21"/>
    <p:sldId id="1522" r:id="rId22"/>
    <p:sldId id="1523" r:id="rId23"/>
    <p:sldId id="1524" r:id="rId24"/>
    <p:sldId id="1527" r:id="rId25"/>
    <p:sldId id="1528" r:id="rId26"/>
    <p:sldId id="1519" r:id="rId27"/>
    <p:sldId id="1529" r:id="rId28"/>
    <p:sldId id="1530" r:id="rId29"/>
    <p:sldId id="1531" r:id="rId30"/>
    <p:sldId id="1532" r:id="rId31"/>
    <p:sldId id="1533" r:id="rId32"/>
    <p:sldId id="1534" r:id="rId33"/>
    <p:sldId id="1535" r:id="rId34"/>
    <p:sldId id="1536" r:id="rId35"/>
    <p:sldId id="1520" r:id="rId36"/>
    <p:sldId id="1537" r:id="rId37"/>
    <p:sldId id="1538" r:id="rId38"/>
    <p:sldId id="154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2" autoAdjust="0"/>
    <p:restoredTop sz="93254" autoAdjust="0"/>
  </p:normalViewPr>
  <p:slideViewPr>
    <p:cSldViewPr snapToGrid="0">
      <p:cViewPr varScale="1">
        <p:scale>
          <a:sx n="154" d="100"/>
          <a:sy n="154" d="100"/>
        </p:scale>
        <p:origin x="11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940F-EAD0-24AD-9454-3B76D668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DE634-AE01-89A8-F277-CB06A2970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FAD0B-D207-22DD-1F2D-47C5A1C4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0C9D-AF1F-5186-4F7B-052F0B423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5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1634-D782-2326-D8B9-BF3567B5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E0FAD-30DD-9190-7BA6-2D9492B5C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5EF02-BC1E-0B22-F10A-DE860AD9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14B17-E500-A40D-19C4-0F44A876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88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F992-8A51-7255-C9B2-36A60F97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D0527-676D-4BE7-CE85-B2B99F038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1D6F5-C6C1-650C-D1C0-DCE309375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3EB5E-81A2-E778-11DA-30FE7A346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2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/>
          <a:lstStyle/>
          <a:p>
            <a:r>
              <a:rPr lang="en-US" dirty="0"/>
              <a:t>Presented by </a:t>
            </a:r>
            <a:r>
              <a:rPr lang="en-US" b="1" dirty="0"/>
              <a:t>Tue Vu</a:t>
            </a:r>
            <a:r>
              <a:rPr lang="en-US" dirty="0"/>
              <a:t>, PhD</a:t>
            </a:r>
          </a:p>
          <a:p>
            <a:r>
              <a:rPr lang="en-US" b="1" i="1" dirty="0"/>
              <a:t>AI/ML Research Scientist </a:t>
            </a:r>
          </a:p>
          <a:p>
            <a:r>
              <a:rPr lang="en-US" b="1" i="1" dirty="0"/>
              <a:t>SMU OIT Research Tech. Service</a:t>
            </a:r>
          </a:p>
        </p:txBody>
      </p:sp>
      <p:pic>
        <p:nvPicPr>
          <p:cNvPr id="7" name="Picture Placeholder 6" descr="A group of houses with red roofs">
            <a:extLst>
              <a:ext uri="{FF2B5EF4-FFF2-40B4-BE49-F238E27FC236}">
                <a16:creationId xmlns:a16="http://schemas.microsoft.com/office/drawing/2014/main" id="{AA6BCCFE-82B9-38D9-8EAD-75148B80BD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6128" y="0"/>
            <a:ext cx="6595872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A075DA-9506-CECD-7CD5-757F1C8A38FE}"/>
              </a:ext>
            </a:extLst>
          </p:cNvPr>
          <p:cNvSpPr txBox="1"/>
          <p:nvPr/>
        </p:nvSpPr>
        <p:spPr>
          <a:xfrm>
            <a:off x="724072" y="3024554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Ollama + </a:t>
            </a:r>
            <a:r>
              <a:rPr lang="en-US" b="1" dirty="0" err="1"/>
              <a:t>Langchain</a:t>
            </a:r>
            <a:r>
              <a:rPr lang="en-US" b="1" dirty="0"/>
              <a:t> + </a:t>
            </a:r>
            <a:r>
              <a:rPr lang="en-US" b="1" dirty="0" err="1"/>
              <a:t>SuperPOD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1D070-7A98-FD58-9B68-55CFEFDD2779}"/>
              </a:ext>
            </a:extLst>
          </p:cNvPr>
          <p:cNvSpPr/>
          <p:nvPr/>
        </p:nvSpPr>
        <p:spPr>
          <a:xfrm>
            <a:off x="48882" y="1390926"/>
            <a:ext cx="52838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Advanced RAG</a:t>
            </a:r>
          </a:p>
        </p:txBody>
      </p:sp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/>
          <a:p>
            <a:r>
              <a:rPr lang="en-US" dirty="0"/>
              <a:t>Introduction to RAG</a:t>
            </a:r>
          </a:p>
          <a:p>
            <a:r>
              <a:rPr lang="en-US" dirty="0"/>
              <a:t>Why need RAG Advanced</a:t>
            </a:r>
          </a:p>
          <a:p>
            <a:r>
              <a:rPr lang="en-US" dirty="0"/>
              <a:t>Why Ollama + </a:t>
            </a:r>
            <a:r>
              <a:rPr lang="en-US" dirty="0" err="1"/>
              <a:t>Langchain</a:t>
            </a:r>
            <a:r>
              <a:rPr lang="en-US" dirty="0"/>
              <a:t> + </a:t>
            </a:r>
            <a:r>
              <a:rPr lang="en-US" dirty="0" err="1"/>
              <a:t>SuperPOD</a:t>
            </a:r>
            <a:endParaRPr lang="en-US" dirty="0"/>
          </a:p>
          <a:p>
            <a:r>
              <a:rPr lang="en-US" dirty="0"/>
              <a:t>Hands-on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9354600" cy="4983480"/>
          </a:xfrm>
        </p:spPr>
        <p:txBody>
          <a:bodyPr>
            <a:noAutofit/>
          </a:bodyPr>
          <a:lstStyle/>
          <a:p>
            <a:pPr marL="342900" indent="-342900" algn="l" rtl="0" fontAlgn="base">
              <a:lnSpc>
                <a:spcPts val="3375"/>
              </a:lnSpc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RAG helps LLM to avoid Hallucination from out of corpus training</a:t>
            </a:r>
          </a:p>
          <a:p>
            <a:pPr marL="342900" indent="-342900" algn="l" rtl="0" fontAlgn="base">
              <a:lnSpc>
                <a:spcPts val="3375"/>
              </a:lnSpc>
              <a:buFontTx/>
              <a:buChar char="-"/>
            </a:pPr>
            <a:r>
              <a:rPr lang="en-US" b="0" i="0" dirty="0">
                <a:solidFill>
                  <a:srgbClr val="000000"/>
                </a:solidFill>
                <a:effectLst/>
              </a:rPr>
              <a:t>RAG helps LLM to focus and response fast</a:t>
            </a:r>
          </a:p>
          <a:p>
            <a:pPr marL="342900" indent="-342900" algn="l" rtl="0" fontAlgn="base">
              <a:lnSpc>
                <a:spcPts val="3375"/>
              </a:lnSpc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RAG has been used in multiple documents search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AF89CA-EAAA-2ED6-AA53-6E94653D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0" y="3352534"/>
            <a:ext cx="11112098" cy="31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inny gold metal plates against a server farm">
            <a:extLst>
              <a:ext uri="{FF2B5EF4-FFF2-40B4-BE49-F238E27FC236}">
                <a16:creationId xmlns:a16="http://schemas.microsoft.com/office/drawing/2014/main" id="{A324C9D7-E633-25CE-8DE8-D13774A3E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083" y="4405611"/>
            <a:ext cx="6352674" cy="211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LLAMA at local machine. Ollama — large language models ...">
            <a:extLst>
              <a:ext uri="{FF2B5EF4-FFF2-40B4-BE49-F238E27FC236}">
                <a16:creationId xmlns:a16="http://schemas.microsoft.com/office/drawing/2014/main" id="{75E09C59-7FF9-21DB-BE83-4545F8B9C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635" y="306355"/>
            <a:ext cx="3059768" cy="1055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ngChain v1 is now generally available! | Microsoft Community Hub">
            <a:extLst>
              <a:ext uri="{FF2B5EF4-FFF2-40B4-BE49-F238E27FC236}">
                <a16:creationId xmlns:a16="http://schemas.microsoft.com/office/drawing/2014/main" id="{345CAA23-2E0A-1728-69F7-3CD7BDD91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573" y="2242536"/>
            <a:ext cx="2675824" cy="128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9AD9F-2257-1811-9BA7-3530D022CC44}"/>
              </a:ext>
            </a:extLst>
          </p:cNvPr>
          <p:cNvSpPr txBox="1"/>
          <p:nvPr/>
        </p:nvSpPr>
        <p:spPr>
          <a:xfrm>
            <a:off x="8424065" y="471681"/>
            <a:ext cx="3024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LLMs</a:t>
            </a:r>
          </a:p>
          <a:p>
            <a:r>
              <a:rPr lang="en-US" dirty="0"/>
              <a:t>Open-source Embeddings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55060-8199-17CA-49D7-AAAB36B3C0B7}"/>
              </a:ext>
            </a:extLst>
          </p:cNvPr>
          <p:cNvSpPr txBox="1"/>
          <p:nvPr/>
        </p:nvSpPr>
        <p:spPr>
          <a:xfrm>
            <a:off x="8386138" y="2447103"/>
            <a:ext cx="30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the LM 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A8221-A2E1-942E-B58B-0D299A39F7A9}"/>
              </a:ext>
            </a:extLst>
          </p:cNvPr>
          <p:cNvSpPr txBox="1"/>
          <p:nvPr/>
        </p:nvSpPr>
        <p:spPr>
          <a:xfrm>
            <a:off x="9639816" y="5185082"/>
            <a:ext cx="3024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 GPUs</a:t>
            </a:r>
          </a:p>
          <a:p>
            <a:r>
              <a:rPr lang="en-US" dirty="0"/>
              <a:t>Provide storage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632" y="1830331"/>
            <a:ext cx="7772400" cy="4572000"/>
          </a:xfrm>
        </p:spPr>
        <p:txBody>
          <a:bodyPr>
            <a:normAutofit/>
          </a:bodyPr>
          <a:lstStyle/>
          <a:p>
            <a:r>
              <a:rPr lang="en-US" sz="4000" dirty="0"/>
              <a:t>Disadvantage of simple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0843" y="1138367"/>
            <a:ext cx="9060875" cy="1592420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Require specific prompting</a:t>
            </a:r>
          </a:p>
          <a:p>
            <a:pPr marL="342900" indent="-342900">
              <a:buFontTx/>
              <a:buChar char="-"/>
            </a:pPr>
            <a:r>
              <a:rPr lang="en-US" dirty="0"/>
              <a:t>Not always return the right chunks</a:t>
            </a:r>
          </a:p>
          <a:p>
            <a:pPr marL="342900" indent="-342900">
              <a:buFontTx/>
              <a:buChar char="-"/>
            </a:pPr>
            <a:r>
              <a:rPr lang="en-US" dirty="0"/>
              <a:t>Not working for all RAG workflow</a:t>
            </a: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RAG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17C48-4EA6-FF9E-E583-12F83B64DF23}"/>
              </a:ext>
            </a:extLst>
          </p:cNvPr>
          <p:cNvSpPr txBox="1"/>
          <p:nvPr/>
        </p:nvSpPr>
        <p:spPr>
          <a:xfrm>
            <a:off x="3147645" y="2097305"/>
            <a:ext cx="7514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https://github.com/NirDiamant/RAG_Techniques/tree/main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24D7F-3CDA-DF96-E9FB-A465A6C884CA}"/>
              </a:ext>
            </a:extLst>
          </p:cNvPr>
          <p:cNvSpPr txBox="1"/>
          <p:nvPr/>
        </p:nvSpPr>
        <p:spPr>
          <a:xfrm>
            <a:off x="815099" y="3413278"/>
            <a:ext cx="9599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provided </a:t>
            </a:r>
            <a:r>
              <a:rPr lang="en-US" dirty="0" err="1"/>
              <a:t>github</a:t>
            </a:r>
            <a:r>
              <a:rPr lang="en-US" dirty="0"/>
              <a:t> works with older version of </a:t>
            </a:r>
            <a:r>
              <a:rPr lang="en-US" dirty="0" err="1"/>
              <a:t>Langchain</a:t>
            </a:r>
            <a:r>
              <a:rPr lang="en-US" dirty="0"/>
              <a:t> and using OpenAI API key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revised version works with </a:t>
            </a:r>
            <a:r>
              <a:rPr lang="en-US" dirty="0" err="1"/>
              <a:t>Langchain</a:t>
            </a:r>
            <a:r>
              <a:rPr lang="en-US" dirty="0"/>
              <a:t> version 1.2.8 (&gt;1) and using Ollama running on </a:t>
            </a:r>
            <a:r>
              <a:rPr lang="en-US" dirty="0" err="1"/>
              <a:t>SuperPOD</a:t>
            </a:r>
            <a:r>
              <a:rPr lang="en-US" dirty="0"/>
              <a:t> that can be applied to any workflow running locally</a:t>
            </a:r>
          </a:p>
          <a:p>
            <a:pPr marL="285750" indent="-285750">
              <a:buFontTx/>
              <a:buChar char="-"/>
            </a:pPr>
            <a:r>
              <a:rPr lang="en-US" dirty="0"/>
              <a:t>Step by step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RAGs Technique</a:t>
            </a:r>
          </a:p>
        </p:txBody>
      </p:sp>
      <p:pic>
        <p:nvPicPr>
          <p:cNvPr id="5" name="Picture Placeholder 4" descr="A road winding through a forest">
            <a:extLst>
              <a:ext uri="{FF2B5EF4-FFF2-40B4-BE49-F238E27FC236}">
                <a16:creationId xmlns:a16="http://schemas.microsoft.com/office/drawing/2014/main" id="{164FB9BE-89B8-A73D-CB0C-5BF6EAC06D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CFB9-45C0-9B0A-A685-D60EEAE8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1. Simple RAG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AB3A65-135B-8F04-AB5D-0AD006141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1" y="1225830"/>
            <a:ext cx="11112098" cy="3139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C17CCE-B744-EDE0-0E2F-0060753C2FE5}"/>
              </a:ext>
            </a:extLst>
          </p:cNvPr>
          <p:cNvSpPr txBox="1"/>
          <p:nvPr/>
        </p:nvSpPr>
        <p:spPr>
          <a:xfrm rot="19106527">
            <a:off x="1004462" y="4891628"/>
            <a:ext cx="229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PyPDF</a:t>
            </a:r>
            <a:r>
              <a:rPr lang="en-US" dirty="0"/>
              <a:t> to load 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C791E-EFF7-6878-810C-29E83BE2B3F4}"/>
              </a:ext>
            </a:extLst>
          </p:cNvPr>
          <p:cNvSpPr txBox="1"/>
          <p:nvPr/>
        </p:nvSpPr>
        <p:spPr>
          <a:xfrm rot="19106527">
            <a:off x="2674708" y="4658711"/>
            <a:ext cx="23975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RecursiveCharacterTextSplitter</a:t>
            </a:r>
            <a:endParaRPr lang="en-US" dirty="0"/>
          </a:p>
          <a:p>
            <a:r>
              <a:rPr lang="en-US" sz="1600" i="1" dirty="0"/>
              <a:t>Chunk size</a:t>
            </a:r>
          </a:p>
          <a:p>
            <a:r>
              <a:rPr lang="en-US" sz="1600" i="1" dirty="0"/>
              <a:t>Chunk overlap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3608CD-0A58-EA20-231F-B825AF0204D8}"/>
              </a:ext>
            </a:extLst>
          </p:cNvPr>
          <p:cNvSpPr txBox="1"/>
          <p:nvPr/>
        </p:nvSpPr>
        <p:spPr>
          <a:xfrm rot="19106527">
            <a:off x="4711855" y="4520213"/>
            <a:ext cx="22939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 model from Ollama</a:t>
            </a:r>
          </a:p>
          <a:p>
            <a:r>
              <a:rPr lang="en-US" dirty="0" err="1"/>
              <a:t>Vectorstore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FAISS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Chroma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68A4C-F575-C1D8-6DA3-7B7BD0E8D4E3}"/>
              </a:ext>
            </a:extLst>
          </p:cNvPr>
          <p:cNvSpPr txBox="1"/>
          <p:nvPr/>
        </p:nvSpPr>
        <p:spPr>
          <a:xfrm rot="19106527">
            <a:off x="6291750" y="4800467"/>
            <a:ext cx="27198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With given query:</a:t>
            </a:r>
            <a:endParaRPr lang="en-US" sz="1400" i="1" dirty="0"/>
          </a:p>
          <a:p>
            <a:r>
              <a:rPr lang="en-US" sz="1600" i="1" dirty="0"/>
              <a:t>Similarity search:</a:t>
            </a:r>
          </a:p>
          <a:p>
            <a:r>
              <a:rPr lang="en-US" sz="1600" i="1" dirty="0"/>
              <a:t>Max marginal relevance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EC0A06-F48B-0680-B0AE-5B68AE829609}"/>
              </a:ext>
            </a:extLst>
          </p:cNvPr>
          <p:cNvSpPr txBox="1"/>
          <p:nvPr/>
        </p:nvSpPr>
        <p:spPr>
          <a:xfrm rot="19106527">
            <a:off x="8561814" y="4837369"/>
            <a:ext cx="2293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from Ollama</a:t>
            </a:r>
          </a:p>
          <a:p>
            <a:r>
              <a:rPr lang="en-US" dirty="0"/>
              <a:t>LCEL to get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91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B061-22CE-17CF-E55F-A0648D81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09D9-17EA-BECE-30AA-A1E5BB43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2. Simple RAG for CSV tabular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998A6D-2201-7560-D188-EFEEE5DC4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1" y="1225830"/>
            <a:ext cx="11112098" cy="3139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6A9D7-32FF-8CAF-678C-7402AF6E1D21}"/>
              </a:ext>
            </a:extLst>
          </p:cNvPr>
          <p:cNvSpPr txBox="1"/>
          <p:nvPr/>
        </p:nvSpPr>
        <p:spPr>
          <a:xfrm rot="19106527">
            <a:off x="573875" y="5055011"/>
            <a:ext cx="2786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CSV loader to load 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56FFE-B0CD-CC00-C901-CC7F141B5CA2}"/>
              </a:ext>
            </a:extLst>
          </p:cNvPr>
          <p:cNvSpPr txBox="1"/>
          <p:nvPr/>
        </p:nvSpPr>
        <p:spPr>
          <a:xfrm rot="19106527">
            <a:off x="2674708" y="5043431"/>
            <a:ext cx="239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Each row is a chunk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6606A-48B6-8863-1055-DF747790D553}"/>
              </a:ext>
            </a:extLst>
          </p:cNvPr>
          <p:cNvSpPr txBox="1"/>
          <p:nvPr/>
        </p:nvSpPr>
        <p:spPr>
          <a:xfrm rot="19106527">
            <a:off x="4711855" y="4520213"/>
            <a:ext cx="22939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 model from Ollama</a:t>
            </a:r>
          </a:p>
          <a:p>
            <a:r>
              <a:rPr lang="en-US" dirty="0" err="1"/>
              <a:t>Vectorstore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FAISS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Chroma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F56FEF-5BA0-5809-EEE1-0F42132C9C34}"/>
              </a:ext>
            </a:extLst>
          </p:cNvPr>
          <p:cNvSpPr txBox="1"/>
          <p:nvPr/>
        </p:nvSpPr>
        <p:spPr>
          <a:xfrm rot="19106527">
            <a:off x="6291750" y="4800467"/>
            <a:ext cx="27198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With given query:</a:t>
            </a:r>
            <a:endParaRPr lang="en-US" sz="1400" i="1" dirty="0"/>
          </a:p>
          <a:p>
            <a:r>
              <a:rPr lang="en-US" sz="1600" i="1" dirty="0"/>
              <a:t>Similarity search:</a:t>
            </a:r>
          </a:p>
          <a:p>
            <a:r>
              <a:rPr lang="en-US" sz="1600" i="1" dirty="0"/>
              <a:t>Max marginal relevance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A2AA8-8350-87E6-BDAE-F8911C580DB2}"/>
              </a:ext>
            </a:extLst>
          </p:cNvPr>
          <p:cNvSpPr txBox="1"/>
          <p:nvPr/>
        </p:nvSpPr>
        <p:spPr>
          <a:xfrm rot="19106527">
            <a:off x="8561814" y="4837369"/>
            <a:ext cx="2293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from Ollama</a:t>
            </a:r>
          </a:p>
          <a:p>
            <a:r>
              <a:rPr lang="en-US" dirty="0"/>
              <a:t>LCEL to get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9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BAC7-CE77-CDD4-33FA-111C7A26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2786-559A-BC54-88B3-210807BE5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3. Reliable RAG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3D4FB-6880-475D-A2A2-8D6B6E7A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1" y="1225830"/>
            <a:ext cx="11112098" cy="3139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6D751F-712C-0D39-3028-07A9CA86D1AD}"/>
              </a:ext>
            </a:extLst>
          </p:cNvPr>
          <p:cNvSpPr txBox="1"/>
          <p:nvPr/>
        </p:nvSpPr>
        <p:spPr>
          <a:xfrm rot="19106527">
            <a:off x="6291750" y="4354193"/>
            <a:ext cx="2719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 With given query:- Ask LLM to rate if the shortlisted chunks are relevant to the query or not and retain these chunks</a:t>
            </a:r>
          </a:p>
        </p:txBody>
      </p:sp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3B8D79D2-B218-48E4-01BF-0AFA260E610A}"/>
              </a:ext>
            </a:extLst>
          </p:cNvPr>
          <p:cNvSpPr/>
          <p:nvPr/>
        </p:nvSpPr>
        <p:spPr>
          <a:xfrm>
            <a:off x="7132841" y="104887"/>
            <a:ext cx="4869138" cy="1248094"/>
          </a:xfrm>
          <a:prstGeom prst="cloudCallout">
            <a:avLst>
              <a:gd name="adj1" fmla="val -42417"/>
              <a:gd name="adj2" fmla="val 818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Standard RAG, if Retrieval return irrelevant chunk it still continue =&gt; Hallucination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EB443-1EB9-E518-F5E1-36707A87C78D}"/>
              </a:ext>
            </a:extLst>
          </p:cNvPr>
          <p:cNvSpPr txBox="1"/>
          <p:nvPr/>
        </p:nvSpPr>
        <p:spPr>
          <a:xfrm rot="19106527">
            <a:off x="1004462" y="4891628"/>
            <a:ext cx="229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PyPDF</a:t>
            </a:r>
            <a:r>
              <a:rPr lang="en-US" dirty="0"/>
              <a:t> to load pdf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D2BEAE-6CAA-A811-B8C5-BA266EB3B862}"/>
              </a:ext>
            </a:extLst>
          </p:cNvPr>
          <p:cNvSpPr txBox="1"/>
          <p:nvPr/>
        </p:nvSpPr>
        <p:spPr>
          <a:xfrm rot="19106527">
            <a:off x="2674708" y="4658711"/>
            <a:ext cx="23975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RecursiveCharacterTextSplitter</a:t>
            </a:r>
            <a:endParaRPr lang="en-US" dirty="0"/>
          </a:p>
          <a:p>
            <a:r>
              <a:rPr lang="en-US" sz="1600" i="1" dirty="0"/>
              <a:t>Chunk size</a:t>
            </a:r>
          </a:p>
          <a:p>
            <a:r>
              <a:rPr lang="en-US" sz="1600" i="1" dirty="0"/>
              <a:t>Chunk overlap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B1A91-FC8A-4E8B-B213-0AA091588534}"/>
              </a:ext>
            </a:extLst>
          </p:cNvPr>
          <p:cNvSpPr txBox="1"/>
          <p:nvPr/>
        </p:nvSpPr>
        <p:spPr>
          <a:xfrm rot="19106527">
            <a:off x="4711855" y="4520213"/>
            <a:ext cx="22939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 model from Ollama</a:t>
            </a:r>
          </a:p>
          <a:p>
            <a:r>
              <a:rPr lang="en-US" dirty="0" err="1"/>
              <a:t>Vectorstore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FAISS</a:t>
            </a:r>
          </a:p>
          <a:p>
            <a:pPr marL="285750" indent="-285750">
              <a:buFontTx/>
              <a:buChar char="-"/>
            </a:pPr>
            <a:r>
              <a:rPr lang="en-US" sz="1600" i="1" dirty="0"/>
              <a:t>Chroma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8CA4E-73DA-EBCA-B7CA-9A164073A993}"/>
              </a:ext>
            </a:extLst>
          </p:cNvPr>
          <p:cNvSpPr txBox="1"/>
          <p:nvPr/>
        </p:nvSpPr>
        <p:spPr>
          <a:xfrm rot="19106527">
            <a:off x="8561814" y="4837369"/>
            <a:ext cx="2293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from Ollama</a:t>
            </a:r>
          </a:p>
          <a:p>
            <a:r>
              <a:rPr lang="en-US" dirty="0"/>
              <a:t>LCEL to get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65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71EC-1726-BB48-78E9-BEE84F8A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B71C-0DC4-8587-0F71-7F506CF8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3. Reliable RAG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D8ADC-8771-BAB8-4DF2-BE771108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94"/>
          <a:stretch>
            <a:fillRect/>
          </a:stretch>
        </p:blipFill>
        <p:spPr>
          <a:xfrm>
            <a:off x="3735869" y="1527871"/>
            <a:ext cx="5567771" cy="3139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4B2C93-2F45-FF2F-B82E-AB9E64BFB9E6}"/>
              </a:ext>
            </a:extLst>
          </p:cNvPr>
          <p:cNvSpPr txBox="1"/>
          <p:nvPr/>
        </p:nvSpPr>
        <p:spPr>
          <a:xfrm>
            <a:off x="52409" y="2218601"/>
            <a:ext cx="3816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- With given query:</a:t>
            </a:r>
          </a:p>
          <a:p>
            <a:r>
              <a:rPr lang="en-US" dirty="0">
                <a:solidFill>
                  <a:srgbClr val="0000FF"/>
                </a:solidFill>
              </a:rPr>
              <a:t>Ask LLM to rate if the shortlisted chunks are relevant to the query or not and retain these chunks to generate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5A098-F75D-C78D-BB71-4A8950A6C9F1}"/>
              </a:ext>
            </a:extLst>
          </p:cNvPr>
          <p:cNvSpPr txBox="1"/>
          <p:nvPr/>
        </p:nvSpPr>
        <p:spPr>
          <a:xfrm>
            <a:off x="8456132" y="2011532"/>
            <a:ext cx="36834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FF"/>
                </a:solidFill>
              </a:rPr>
              <a:t>Ask LLM to check for Hallucination from the generated answer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FF"/>
                </a:solidFill>
              </a:rPr>
              <a:t>Ask LLM to Highlight the source segment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7FF29-5505-7EDE-002D-4FCA0BE16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318" y="4574766"/>
            <a:ext cx="3881029" cy="223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6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4E24-27BE-D93E-6F17-499DF61A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09C85-71FE-A031-C69F-0A069E26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71" b="17255"/>
          <a:stretch>
            <a:fillRect/>
          </a:stretch>
        </p:blipFill>
        <p:spPr>
          <a:xfrm>
            <a:off x="1725360" y="1700535"/>
            <a:ext cx="7613105" cy="497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96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1DA1-E85F-C43A-24B0-8DB4F4BB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691E-398A-97A0-834C-3EE7A210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4. Query Transformation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07899-FCDA-BBD1-45DE-4FEA8EA7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99" r="33275"/>
          <a:stretch>
            <a:fillRect/>
          </a:stretch>
        </p:blipFill>
        <p:spPr>
          <a:xfrm>
            <a:off x="227566" y="1037575"/>
            <a:ext cx="1547446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69C725-78E8-C799-B869-E72A24785FAF}"/>
              </a:ext>
            </a:extLst>
          </p:cNvPr>
          <p:cNvSpPr txBox="1"/>
          <p:nvPr/>
        </p:nvSpPr>
        <p:spPr>
          <a:xfrm>
            <a:off x="5778595" y="504931"/>
            <a:ext cx="559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For complex &amp; ambiguous queries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0C0750-FE5C-26FC-68C6-47A6AE5AE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48118"/>
              </p:ext>
            </p:extLst>
          </p:nvPr>
        </p:nvGraphicFramePr>
        <p:xfrm>
          <a:off x="2230603" y="1431324"/>
          <a:ext cx="9784860" cy="4954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620">
                  <a:extLst>
                    <a:ext uri="{9D8B030D-6E8A-4147-A177-3AD203B41FA5}">
                      <a16:colId xmlns:a16="http://schemas.microsoft.com/office/drawing/2014/main" val="2206825961"/>
                    </a:ext>
                  </a:extLst>
                </a:gridCol>
                <a:gridCol w="3261620">
                  <a:extLst>
                    <a:ext uri="{9D8B030D-6E8A-4147-A177-3AD203B41FA5}">
                      <a16:colId xmlns:a16="http://schemas.microsoft.com/office/drawing/2014/main" val="4139954223"/>
                    </a:ext>
                  </a:extLst>
                </a:gridCol>
                <a:gridCol w="3261620">
                  <a:extLst>
                    <a:ext uri="{9D8B030D-6E8A-4147-A177-3AD203B41FA5}">
                      <a16:colId xmlns:a16="http://schemas.microsoft.com/office/drawing/2014/main" val="3981806570"/>
                    </a:ext>
                  </a:extLst>
                </a:gridCol>
              </a:tblGrid>
              <a:tr h="4719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Query Rewriting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Step-back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Sub-query Decomposition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458862"/>
                  </a:ext>
                </a:extLst>
              </a:tr>
              <a:tr h="448261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Using LLM to rewrite the query to expands include specific aspect: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“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You are an AI assistant tasked with 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reformulating user queries to improve retrieval in a RAG 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system.</a:t>
                      </a:r>
                    </a:p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Given the original query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, rewrite it to be more specific, detailed, 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and likely to retrieve relevant information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Using LLM to rewrite the query to retrieve broader context and background: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“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You are an AI assistant tasked with 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generating broader, more general queries to improve context retrieval in a RAG 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system.</a:t>
                      </a:r>
                    </a:p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Given the original query, 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generate a step-back query that is more general 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and can help retrieve relevant background information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Using LLM to rewrite the query to breakdown into smaller questions: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“</a:t>
                      </a:r>
                      <a:r>
                        <a:rPr lang="en-US" i="1" dirty="0"/>
                        <a:t>You are an AI assistant tasked with 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breaking down complex queries into simpler sub-queries for a RAG </a:t>
                      </a:r>
                      <a:r>
                        <a:rPr lang="en-US" i="1" dirty="0"/>
                        <a:t>system.</a:t>
                      </a:r>
                    </a:p>
                    <a:p>
                      <a:endParaRPr lang="en-US" i="1" dirty="0"/>
                    </a:p>
                    <a:p>
                      <a:r>
                        <a:rPr lang="en-US" i="1" dirty="0"/>
                        <a:t>Given the original query, </a:t>
                      </a:r>
                      <a:r>
                        <a:rPr lang="en-US" i="1" dirty="0">
                          <a:solidFill>
                            <a:srgbClr val="0000FF"/>
                          </a:solidFill>
                        </a:rPr>
                        <a:t>decompose it into 2-4 simpler sub-queries</a:t>
                      </a:r>
                      <a:r>
                        <a:rPr lang="en-US" i="1" dirty="0"/>
                        <a:t> that, when answered together, would provide a comprehensive response to the original query</a:t>
                      </a:r>
                      <a:r>
                        <a:rPr lang="en-US" dirty="0"/>
                        <a:t>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091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05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98AE-D65B-831A-95F0-B18DB539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0723-22D7-224F-3025-7585D2E8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5. Hypothetical Document Embedding (</a:t>
            </a:r>
            <a:r>
              <a:rPr lang="en-US" sz="3200" dirty="0" err="1"/>
              <a:t>HyDE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623B5-2E47-4219-C28E-6CEB426E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58" r="50217"/>
          <a:stretch>
            <a:fillRect/>
          </a:stretch>
        </p:blipFill>
        <p:spPr>
          <a:xfrm>
            <a:off x="78614" y="1037575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D55150-BF54-E276-0365-1439582BDF77}"/>
              </a:ext>
            </a:extLst>
          </p:cNvPr>
          <p:cNvSpPr txBox="1"/>
          <p:nvPr/>
        </p:nvSpPr>
        <p:spPr>
          <a:xfrm>
            <a:off x="4427186" y="1084189"/>
            <a:ext cx="691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To create longer documents and get better match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2606C7-0B6D-37E3-D787-7478CD461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144648"/>
              </p:ext>
            </p:extLst>
          </p:nvPr>
        </p:nvGraphicFramePr>
        <p:xfrm>
          <a:off x="1841672" y="1625791"/>
          <a:ext cx="967314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574">
                  <a:extLst>
                    <a:ext uri="{9D8B030D-6E8A-4147-A177-3AD203B41FA5}">
                      <a16:colId xmlns:a16="http://schemas.microsoft.com/office/drawing/2014/main" val="380781049"/>
                    </a:ext>
                  </a:extLst>
                </a:gridCol>
                <a:gridCol w="4836574">
                  <a:extLst>
                    <a:ext uri="{9D8B030D-6E8A-4147-A177-3AD203B41FA5}">
                      <a16:colId xmlns:a16="http://schemas.microsoft.com/office/drawing/2014/main" val="1594508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HyDE</a:t>
                      </a:r>
                      <a:r>
                        <a:rPr lang="en-US" dirty="0"/>
                        <a:t>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19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Query → embed →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Query → </a:t>
                      </a:r>
                      <a:r>
                        <a:rPr lang="en-US" b="1" dirty="0"/>
                        <a:t>generate hypothetical answer</a:t>
                      </a:r>
                      <a:r>
                        <a:rPr lang="en-US" dirty="0"/>
                        <a:t> → embed answer →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25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 query vs. long chunks (mismatch)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 document vs. long chunks (better match)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21736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45E70FA-F7F6-4293-28AE-E583FE738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73" y="3356728"/>
            <a:ext cx="3681027" cy="33438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007643-C421-D8F6-7E4E-933B9CA7C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342" y="4617900"/>
            <a:ext cx="3853902" cy="122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B9CB-C546-7336-FC5D-9C94DF21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2856-0195-72F9-6A34-3A5A57E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6. Hypothetical Prompt Embedding (</a:t>
            </a:r>
            <a:r>
              <a:rPr lang="en-US" sz="3200" dirty="0" err="1"/>
              <a:t>HyPE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1F7B5-5CFB-2A48-559E-DD54AA37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58" r="50217"/>
          <a:stretch>
            <a:fillRect/>
          </a:stretch>
        </p:blipFill>
        <p:spPr>
          <a:xfrm>
            <a:off x="78614" y="1037575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92E95-77B0-F2FF-74C5-CC95B4478B54}"/>
              </a:ext>
            </a:extLst>
          </p:cNvPr>
          <p:cNvSpPr txBox="1"/>
          <p:nvPr/>
        </p:nvSpPr>
        <p:spPr>
          <a:xfrm>
            <a:off x="4427186" y="1084189"/>
            <a:ext cx="691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rgbClr val="0000FF"/>
                </a:solidFill>
              </a:rPr>
              <a:t>HyPE</a:t>
            </a:r>
            <a:r>
              <a:rPr lang="en-US" sz="2400" b="1" i="1" dirty="0">
                <a:solidFill>
                  <a:srgbClr val="0000FF"/>
                </a:solidFill>
              </a:rPr>
              <a:t> is reverse of </a:t>
            </a:r>
            <a:r>
              <a:rPr lang="en-US" sz="2400" b="1" i="1" dirty="0" err="1">
                <a:solidFill>
                  <a:srgbClr val="0000FF"/>
                </a:solidFill>
              </a:rPr>
              <a:t>HyDE</a:t>
            </a:r>
            <a:endParaRPr lang="en-US" sz="2400" b="1" i="1" dirty="0">
              <a:solidFill>
                <a:srgbClr val="0000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A9BCDF-728D-0883-A3C2-B1A5A34AD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34127"/>
              </p:ext>
            </p:extLst>
          </p:nvPr>
        </p:nvGraphicFramePr>
        <p:xfrm>
          <a:off x="1576866" y="1625791"/>
          <a:ext cx="1040549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255">
                  <a:extLst>
                    <a:ext uri="{9D8B030D-6E8A-4147-A177-3AD203B41FA5}">
                      <a16:colId xmlns:a16="http://schemas.microsoft.com/office/drawing/2014/main" val="2565935301"/>
                    </a:ext>
                  </a:extLst>
                </a:gridCol>
                <a:gridCol w="2324912">
                  <a:extLst>
                    <a:ext uri="{9D8B030D-6E8A-4147-A177-3AD203B41FA5}">
                      <a16:colId xmlns:a16="http://schemas.microsoft.com/office/drawing/2014/main" val="3709105351"/>
                    </a:ext>
                  </a:extLst>
                </a:gridCol>
                <a:gridCol w="3727254">
                  <a:extLst>
                    <a:ext uri="{9D8B030D-6E8A-4147-A177-3AD203B41FA5}">
                      <a16:colId xmlns:a16="http://schemas.microsoft.com/office/drawing/2014/main" val="2083697486"/>
                    </a:ext>
                  </a:extLst>
                </a:gridCol>
                <a:gridCol w="2923075">
                  <a:extLst>
                    <a:ext uri="{9D8B030D-6E8A-4147-A177-3AD203B41FA5}">
                      <a16:colId xmlns:a16="http://schemas.microsoft.com/office/drawing/2014/main" val="3720180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it generates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generates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Search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2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HyDE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</a:t>
                      </a:r>
                      <a:r>
                        <a:rPr lang="en-US" b="1"/>
                        <a:t>query time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hypothetical </a:t>
                      </a:r>
                      <a:r>
                        <a:rPr lang="en-US" i="1"/>
                        <a:t>answer document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document →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85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</a:t>
                      </a:r>
                      <a:r>
                        <a:rPr lang="en-US" b="1"/>
                        <a:t>indexing time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Hypothetical </a:t>
                      </a:r>
                      <a:r>
                        <a:rPr lang="en-US" i="1"/>
                        <a:t>questions</a:t>
                      </a:r>
                      <a:r>
                        <a:rPr lang="en-US"/>
                        <a:t> per chunk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question → question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82617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4F3ABA6-CE24-0D6E-484A-72AB0F06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251" y="2998383"/>
            <a:ext cx="8319247" cy="350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03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09C5-EA25-ACAE-7309-FF097027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about CHUNKS</a:t>
            </a:r>
          </a:p>
        </p:txBody>
      </p:sp>
      <p:pic>
        <p:nvPicPr>
          <p:cNvPr id="20486" name="Picture 6" descr="1,200+ Messy Library Book Stack Stock Photos, Pictures &amp; Royalty-Free  Images - iStock">
            <a:extLst>
              <a:ext uri="{FF2B5EF4-FFF2-40B4-BE49-F238E27FC236}">
                <a16:creationId xmlns:a16="http://schemas.microsoft.com/office/drawing/2014/main" id="{F802D90F-D7E4-4EDB-BC78-38F327EAE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276" y="1442585"/>
            <a:ext cx="7709635" cy="513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094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954E-389A-36FA-4A07-0DB1DDE5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D56A-CC2D-6AA3-FCE2-236E8E4C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7. Proposition Chunking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BE0AA-BA92-60E9-4CCA-F348E0EC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82" r="65408"/>
          <a:stretch>
            <a:fillRect/>
          </a:stretch>
        </p:blipFill>
        <p:spPr>
          <a:xfrm>
            <a:off x="681111" y="1395469"/>
            <a:ext cx="1056663" cy="3139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A624B-0C32-9E82-306B-737DC1C2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070" y="3180746"/>
            <a:ext cx="4414718" cy="3522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A33AB5-31D4-E63A-A4AF-F5FD68174F81}"/>
              </a:ext>
            </a:extLst>
          </p:cNvPr>
          <p:cNvSpPr txBox="1"/>
          <p:nvPr/>
        </p:nvSpPr>
        <p:spPr>
          <a:xfrm>
            <a:off x="5399482" y="571231"/>
            <a:ext cx="691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Further splitting the chunk into smaller chunks with more focus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FC91A39-C4C3-7F9D-8F4C-3AC0E476D61F}"/>
              </a:ext>
            </a:extLst>
          </p:cNvPr>
          <p:cNvGraphicFramePr>
            <a:graphicFrameLocks noGrp="1"/>
          </p:cNvGraphicFramePr>
          <p:nvPr/>
        </p:nvGraphicFramePr>
        <p:xfrm>
          <a:off x="2230602" y="148196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14400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95036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Chunking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Proposition Chunking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79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text by character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text into </a:t>
                      </a:r>
                      <a:r>
                        <a:rPr lang="en-US" b="1"/>
                        <a:t>individual facts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06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chunk = many mixed ideas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proposition = one specific fact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99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return irrelevant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only the relevant fact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4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73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722E-BA9D-EEDF-55BF-3C55D820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5E6B-ADE0-F7E9-9B5D-CBA0FCE7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8. Contextual Chunk Headers (CCH)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3BF878-421C-EA07-3210-10CFAF8437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58" r="50217"/>
          <a:stretch>
            <a:fillRect/>
          </a:stretch>
        </p:blipFill>
        <p:spPr>
          <a:xfrm>
            <a:off x="0" y="3892678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FBA80B-3DF1-8E07-0819-2E21B8B52BC8}"/>
              </a:ext>
            </a:extLst>
          </p:cNvPr>
          <p:cNvSpPr txBox="1"/>
          <p:nvPr/>
        </p:nvSpPr>
        <p:spPr>
          <a:xfrm>
            <a:off x="4427186" y="1084189"/>
            <a:ext cx="691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CCH prepending a header for each chunk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B814D28-AA4A-C339-2182-37EF6A2A0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958956"/>
              </p:ext>
            </p:extLst>
          </p:nvPr>
        </p:nvGraphicFramePr>
        <p:xfrm>
          <a:off x="1721683" y="1670613"/>
          <a:ext cx="1009931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9658">
                  <a:extLst>
                    <a:ext uri="{9D8B030D-6E8A-4147-A177-3AD203B41FA5}">
                      <a16:colId xmlns:a16="http://schemas.microsoft.com/office/drawing/2014/main" val="1015324982"/>
                    </a:ext>
                  </a:extLst>
                </a:gridCol>
                <a:gridCol w="5049658">
                  <a:extLst>
                    <a:ext uri="{9D8B030D-6E8A-4147-A177-3AD203B41FA5}">
                      <a16:colId xmlns:a16="http://schemas.microsoft.com/office/drawing/2014/main" val="720870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Without CCH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With CCH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39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"the company reduced emissions by 30%"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"Document Title: Nike 2023 Annual Report the company reduced emissions by 30%"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166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Query "Nike climate change" → low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Neue Haas Grotesk Text Pro (Body)"/>
                        </a:rPr>
                        <a:t>Query "Nike climate change" → </a:t>
                      </a:r>
                      <a:r>
                        <a:rPr lang="en-US" b="1" dirty="0">
                          <a:latin typeface="Neue Haas Grotesk Text Pro (Body)"/>
                        </a:rPr>
                        <a:t>high match</a:t>
                      </a:r>
                      <a:endParaRPr lang="en-US" dirty="0">
                        <a:latin typeface="Neue Haas Grotesk Text Pro 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70031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522092E-52BA-ADF0-806D-999719528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355" y="3429000"/>
            <a:ext cx="5399778" cy="3345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4A524D-8DCB-DA6D-F732-22FD1B9F4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2" r="65408"/>
          <a:stretch>
            <a:fillRect/>
          </a:stretch>
        </p:blipFill>
        <p:spPr>
          <a:xfrm>
            <a:off x="156434" y="895274"/>
            <a:ext cx="1056663" cy="31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0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F17C-9F98-F125-A9CA-9F99B4DF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D748-BC83-3B12-FA89-35D93F9B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9. Relevant Segment Extraction (RSE)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51D0C-4F11-340E-6FD8-3FEBAFC5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58" r="50217"/>
          <a:stretch>
            <a:fillRect/>
          </a:stretch>
        </p:blipFill>
        <p:spPr>
          <a:xfrm>
            <a:off x="126885" y="954824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D35DE-CCCD-7BCF-E75B-AFBA1CEE55BD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If answer spans multiple consecutive chunk instead single?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FBCE0E-5AF2-22D7-99AD-82516695F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47686"/>
              </p:ext>
            </p:extLst>
          </p:nvPr>
        </p:nvGraphicFramePr>
        <p:xfrm>
          <a:off x="1643069" y="1745780"/>
          <a:ext cx="1042204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716">
                  <a:extLst>
                    <a:ext uri="{9D8B030D-6E8A-4147-A177-3AD203B41FA5}">
                      <a16:colId xmlns:a16="http://schemas.microsoft.com/office/drawing/2014/main" val="3776959891"/>
                    </a:ext>
                  </a:extLst>
                </a:gridCol>
                <a:gridCol w="5875330">
                  <a:extLst>
                    <a:ext uri="{9D8B030D-6E8A-4147-A177-3AD203B41FA5}">
                      <a16:colId xmlns:a16="http://schemas.microsoft.com/office/drawing/2014/main" val="66338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Top-k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00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isolated chunks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</a:t>
                      </a:r>
                      <a:r>
                        <a:rPr lang="en-US" b="1"/>
                        <a:t>contiguous segments</a:t>
                      </a:r>
                      <a:r>
                        <a:rPr lang="en-US"/>
                        <a:t> of the original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17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chunks between relevant 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Fills in "sandwiched" chunks for complete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78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Fixed-size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Dynamic-length</a:t>
                      </a:r>
                      <a:r>
                        <a:rPr lang="en-US" dirty="0"/>
                        <a:t> segments (short or long as needed)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107477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79642B79-2D32-38FF-D9B4-693BB323E847}"/>
              </a:ext>
            </a:extLst>
          </p:cNvPr>
          <p:cNvGrpSpPr/>
          <p:nvPr/>
        </p:nvGrpSpPr>
        <p:grpSpPr>
          <a:xfrm>
            <a:off x="7178661" y="3583124"/>
            <a:ext cx="3335489" cy="3237638"/>
            <a:chOff x="7840670" y="4127526"/>
            <a:chExt cx="2673480" cy="269323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0B8E17-9494-CA93-B1C2-6471BE6A7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0670" y="4615736"/>
              <a:ext cx="2673480" cy="2205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FBBA288-BB0B-B3E0-70B5-9C19803E1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0298" y="4127526"/>
              <a:ext cx="1086798" cy="488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515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D41B4-25FA-FB9A-AE7A-5E050797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0DBA-BCCC-5D43-A18A-5FD9117E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10. Context Enrichment Window (CEW)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B5445-51C0-BE6D-6C25-2FE5E2D04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58" r="50217"/>
          <a:stretch>
            <a:fillRect/>
          </a:stretch>
        </p:blipFill>
        <p:spPr>
          <a:xfrm>
            <a:off x="126885" y="954824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9C648C-01A6-15F5-A8CB-BC349C677777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CEW pads each retrieved chunked with its </a:t>
            </a:r>
            <a:r>
              <a:rPr lang="en-US" sz="2400" b="1" i="1" dirty="0" err="1">
                <a:solidFill>
                  <a:srgbClr val="0000FF"/>
                </a:solidFill>
              </a:rPr>
              <a:t>neighbouring</a:t>
            </a:r>
            <a:r>
              <a:rPr lang="en-US" sz="2400" b="1" i="1" dirty="0">
                <a:solidFill>
                  <a:srgbClr val="0000FF"/>
                </a:solidFill>
              </a:rPr>
              <a:t> chunks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C722F8-BD3B-9096-7055-D2893C4E8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635136"/>
              </p:ext>
            </p:extLst>
          </p:nvPr>
        </p:nvGraphicFramePr>
        <p:xfrm>
          <a:off x="1643069" y="1745780"/>
          <a:ext cx="1042204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716">
                  <a:extLst>
                    <a:ext uri="{9D8B030D-6E8A-4147-A177-3AD203B41FA5}">
                      <a16:colId xmlns:a16="http://schemas.microsoft.com/office/drawing/2014/main" val="3776959891"/>
                    </a:ext>
                  </a:extLst>
                </a:gridCol>
                <a:gridCol w="5875330">
                  <a:extLst>
                    <a:ext uri="{9D8B030D-6E8A-4147-A177-3AD203B41FA5}">
                      <a16:colId xmlns:a16="http://schemas.microsoft.com/office/drawing/2014/main" val="66338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Context Enrichment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00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the matched chunk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the matched chunk </a:t>
                      </a:r>
                      <a:r>
                        <a:rPr lang="en-US" b="1"/>
                        <a:t>+ neighbors before/after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17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cut off mid-sentence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a complete, coherent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78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Fixed-size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Wider, more informative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10747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9E2A1D1-CA38-B31A-9039-46B43772D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780" y="3613408"/>
            <a:ext cx="6279409" cy="313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70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226E-990C-CE9C-FD5E-1EB677E0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5FBE-6064-61AA-0FC0-B2FCC3B0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481761" cy="932688"/>
          </a:xfrm>
        </p:spPr>
        <p:txBody>
          <a:bodyPr>
            <a:normAutofit/>
          </a:bodyPr>
          <a:lstStyle/>
          <a:p>
            <a:r>
              <a:rPr lang="en-US" sz="3200" dirty="0"/>
              <a:t>11. Semantic chunking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5FC7D-53D3-061D-12C2-76D3CF3D1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58" r="50217"/>
          <a:stretch>
            <a:fillRect/>
          </a:stretch>
        </p:blipFill>
        <p:spPr>
          <a:xfrm>
            <a:off x="126885" y="954824"/>
            <a:ext cx="1369532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14D3DC-2E06-822A-B4B3-D16984E670D8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Splitting based on Semantic meaning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0A9543-616B-7F11-ED9B-6A4EC785A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829787"/>
              </p:ext>
            </p:extLst>
          </p:nvPr>
        </p:nvGraphicFramePr>
        <p:xfrm>
          <a:off x="1643069" y="1745780"/>
          <a:ext cx="1042204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716">
                  <a:extLst>
                    <a:ext uri="{9D8B030D-6E8A-4147-A177-3AD203B41FA5}">
                      <a16:colId xmlns:a16="http://schemas.microsoft.com/office/drawing/2014/main" val="3776959891"/>
                    </a:ext>
                  </a:extLst>
                </a:gridCol>
                <a:gridCol w="5875330">
                  <a:extLst>
                    <a:ext uri="{9D8B030D-6E8A-4147-A177-3AD203B41FA5}">
                      <a16:colId xmlns:a16="http://schemas.microsoft.com/office/drawing/2014/main" val="66338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Fixed-Size Chunking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Semantic Chunking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00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every N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where </a:t>
                      </a:r>
                      <a:r>
                        <a:rPr lang="en-US" b="1"/>
                        <a:t>meaning shifts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17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cut mid-sentence or mid-idea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Keeps complete ideas together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78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Chunks may lack coherence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Chunks are semantically coherent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10747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655AF45-D8BF-7894-80C1-426195345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438" y="3491064"/>
            <a:ext cx="6820823" cy="290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47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EEB1-092D-C60A-5424-6FAB3639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</a:t>
            </a:r>
          </a:p>
        </p:txBody>
      </p:sp>
      <p:pic>
        <p:nvPicPr>
          <p:cNvPr id="22530" name="Picture 2" descr="The Books I Read: September – October 2023 | Eric J. Juneau">
            <a:extLst>
              <a:ext uri="{FF2B5EF4-FFF2-40B4-BE49-F238E27FC236}">
                <a16:creationId xmlns:a16="http://schemas.microsoft.com/office/drawing/2014/main" id="{6D4E9E95-26BA-D976-1E75-DB990F488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345" y="1484996"/>
            <a:ext cx="9261107" cy="520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541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1D3B5-036D-D70E-68A3-67FEEF29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C30C-65D3-8708-448D-BE9FE632B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9" y="104887"/>
            <a:ext cx="6858000" cy="932688"/>
          </a:xfrm>
        </p:spPr>
        <p:txBody>
          <a:bodyPr>
            <a:normAutofit/>
          </a:bodyPr>
          <a:lstStyle/>
          <a:p>
            <a:r>
              <a:rPr lang="en-US" sz="3200" dirty="0"/>
              <a:t>12. Contextual Retrieval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3E74D-109E-4B75-8F95-496E3717C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6" r="33201"/>
          <a:stretch>
            <a:fillRect/>
          </a:stretch>
        </p:blipFill>
        <p:spPr>
          <a:xfrm>
            <a:off x="53787" y="1101703"/>
            <a:ext cx="1580547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FD01A7-37DF-3879-11D7-2064FA89029B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Uses LLM to extract only the relevant parts from retrieved chunk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E4F23-6987-FD2B-6C93-C3FE290C7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91869"/>
              </p:ext>
            </p:extLst>
          </p:nvPr>
        </p:nvGraphicFramePr>
        <p:xfrm>
          <a:off x="1820525" y="1708542"/>
          <a:ext cx="1019080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401">
                  <a:extLst>
                    <a:ext uri="{9D8B030D-6E8A-4147-A177-3AD203B41FA5}">
                      <a16:colId xmlns:a16="http://schemas.microsoft.com/office/drawing/2014/main" val="834325786"/>
                    </a:ext>
                  </a:extLst>
                </a:gridCol>
                <a:gridCol w="5095401">
                  <a:extLst>
                    <a:ext uri="{9D8B030D-6E8A-4147-A177-3AD203B41FA5}">
                      <a16:colId xmlns:a16="http://schemas.microsoft.com/office/drawing/2014/main" val="1266822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Contextual Compression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95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full chunks (may contain irrelevant text)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only the </a:t>
                      </a:r>
                      <a:r>
                        <a:rPr lang="en-US" b="1"/>
                        <a:t>relevant parts</a:t>
                      </a:r>
                      <a:r>
                        <a:rPr lang="en-US"/>
                        <a:t> of each chunk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69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LLM must sift through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gets focused, </a:t>
                      </a:r>
                      <a:r>
                        <a:rPr lang="en-US" b="1" dirty="0"/>
                        <a:t>compressed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187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15CB459-E9AF-1C1C-61F9-E5C220554EFB}"/>
              </a:ext>
            </a:extLst>
          </p:cNvPr>
          <p:cNvSpPr txBox="1"/>
          <p:nvPr/>
        </p:nvSpPr>
        <p:spPr>
          <a:xfrm>
            <a:off x="6979023" y="3292529"/>
            <a:ext cx="52598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000FF"/>
                </a:solidFill>
              </a:rPr>
              <a:t>Given the following context, extract only the parts that are relevant to the question.</a:t>
            </a:r>
          </a:p>
        </p:txBody>
      </p:sp>
    </p:spTree>
    <p:extLst>
      <p:ext uri="{BB962C8B-B14F-4D97-AF65-F5344CB8AC3E}">
        <p14:creationId xmlns:p14="http://schemas.microsoft.com/office/powerpoint/2010/main" val="3455854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4DAF-299D-5E80-ED22-309CB949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7F4A-D049-D67A-C79F-3A17235C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13. Document Augmentation through Question Generation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9D0A78-944A-542E-564C-EDE2C9A8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6" r="33201"/>
          <a:stretch>
            <a:fillRect/>
          </a:stretch>
        </p:blipFill>
        <p:spPr>
          <a:xfrm>
            <a:off x="53787" y="1101703"/>
            <a:ext cx="1580547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4FF876-ABD2-6EC2-DC0F-A3D22F0AE3B5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Use LLM to generate related questions and store with original text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E584EC-F5E3-1963-AD5A-61C65B650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192472"/>
              </p:ext>
            </p:extLst>
          </p:nvPr>
        </p:nvGraphicFramePr>
        <p:xfrm>
          <a:off x="1949249" y="1749918"/>
          <a:ext cx="987175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78">
                  <a:extLst>
                    <a:ext uri="{9D8B030D-6E8A-4147-A177-3AD203B41FA5}">
                      <a16:colId xmlns:a16="http://schemas.microsoft.com/office/drawing/2014/main" val="3186048841"/>
                    </a:ext>
                  </a:extLst>
                </a:gridCol>
                <a:gridCol w="6210472">
                  <a:extLst>
                    <a:ext uri="{9D8B030D-6E8A-4147-A177-3AD203B41FA5}">
                      <a16:colId xmlns:a16="http://schemas.microsoft.com/office/drawing/2014/main" val="3553340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Augmented 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956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Store: original chunks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Store: original chunks </a:t>
                      </a:r>
                      <a:r>
                        <a:rPr lang="en-US" b="1"/>
                        <a:t>+ generated questions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04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Query matches chunk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Query matches a </a:t>
                      </a:r>
                      <a:r>
                        <a:rPr lang="en-US" b="1"/>
                        <a:t>similar question</a:t>
                      </a:r>
                      <a:r>
                        <a:rPr lang="en-US"/>
                        <a:t> → maps back to chunk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5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semantically equivalent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Catches more query phrasings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95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960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CE9A-97D9-8828-D71B-49CD7D9D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67B3-0C28-A961-26A7-2EA4B18BC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14. Fusion Retrieval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0F2650-EAB3-ED8E-E2EC-CD9EBF9E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6" r="33201"/>
          <a:stretch>
            <a:fillRect/>
          </a:stretch>
        </p:blipFill>
        <p:spPr>
          <a:xfrm>
            <a:off x="53787" y="1101703"/>
            <a:ext cx="1580547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145458-79DE-14A6-2275-01DC97A4B2B7}"/>
              </a:ext>
            </a:extLst>
          </p:cNvPr>
          <p:cNvSpPr txBox="1"/>
          <p:nvPr/>
        </p:nvSpPr>
        <p:spPr>
          <a:xfrm>
            <a:off x="2060503" y="1084189"/>
            <a:ext cx="928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00FF"/>
                </a:solidFill>
              </a:rPr>
              <a:t>Combine semantic vector search + keyword search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97B6F0-79A7-999A-40D2-C94293D79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937470"/>
              </p:ext>
            </p:extLst>
          </p:nvPr>
        </p:nvGraphicFramePr>
        <p:xfrm>
          <a:off x="1854084" y="1783017"/>
          <a:ext cx="10252405" cy="235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422">
                  <a:extLst>
                    <a:ext uri="{9D8B030D-6E8A-4147-A177-3AD203B41FA5}">
                      <a16:colId xmlns:a16="http://schemas.microsoft.com/office/drawing/2014/main" val="2804128031"/>
                    </a:ext>
                  </a:extLst>
                </a:gridCol>
                <a:gridCol w="4122515">
                  <a:extLst>
                    <a:ext uri="{9D8B030D-6E8A-4147-A177-3AD203B41FA5}">
                      <a16:colId xmlns:a16="http://schemas.microsoft.com/office/drawing/2014/main" val="4277271652"/>
                    </a:ext>
                  </a:extLst>
                </a:gridCol>
                <a:gridCol w="3417468">
                  <a:extLst>
                    <a:ext uri="{9D8B030D-6E8A-4147-A177-3AD203B41FA5}">
                      <a16:colId xmlns:a16="http://schemas.microsoft.com/office/drawing/2014/main" val="1110892003"/>
                    </a:ext>
                  </a:extLst>
                </a:gridCol>
              </a:tblGrid>
              <a:tr h="380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Weaknesses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174625"/>
                  </a:ext>
                </a:extLst>
              </a:tr>
              <a:tr h="656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Vector search</a:t>
                      </a:r>
                      <a:r>
                        <a:rPr lang="en-US"/>
                        <a:t> (FAISS)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Understands meaning, synonyms, paraphrases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exact keyword matches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818503"/>
                  </a:ext>
                </a:extLst>
              </a:tr>
              <a:tr h="656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BM25</a:t>
                      </a:r>
                      <a:r>
                        <a:rPr lang="en-US"/>
                        <a:t> (keyword)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 at exact term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semantic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621527"/>
                  </a:ext>
                </a:extLst>
              </a:tr>
              <a:tr h="656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Both meaning AND 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Slightly 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3410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550A39-3EDF-F333-74D1-261BB114BED2}"/>
              </a:ext>
            </a:extLst>
          </p:cNvPr>
          <p:cNvSpPr txBox="1"/>
          <p:nvPr/>
        </p:nvSpPr>
        <p:spPr>
          <a:xfrm>
            <a:off x="240437" y="5386965"/>
            <a:ext cx="8990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</a:rPr>
              <a:t>Weighted_avg = alpha * vector_score + (1-alpha) * bm25_score</a:t>
            </a:r>
            <a:endParaRPr lang="en-US" dirty="0"/>
          </a:p>
        </p:txBody>
      </p:sp>
      <p:pic>
        <p:nvPicPr>
          <p:cNvPr id="17410" name="Picture 2" descr="96. Hybrid Search: Combining BM25 and Vector Search | by Kiran vutukuri |  CodeX | Jan, 2026 | Medium">
            <a:extLst>
              <a:ext uri="{FF2B5EF4-FFF2-40B4-BE49-F238E27FC236}">
                <a16:creationId xmlns:a16="http://schemas.microsoft.com/office/drawing/2014/main" id="{F9912411-2487-B752-55D4-97448DE6D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5" t="4386" r="21688" b="4066"/>
          <a:stretch>
            <a:fillRect/>
          </a:stretch>
        </p:blipFill>
        <p:spPr bwMode="auto">
          <a:xfrm>
            <a:off x="8908420" y="4241409"/>
            <a:ext cx="2672600" cy="245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946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BB0A-51E2-EDE8-6D04-62B6CAA8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B4D84A7-C371-FEB8-DBD9-3496FAF6F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174460"/>
              </p:ext>
            </p:extLst>
          </p:nvPr>
        </p:nvGraphicFramePr>
        <p:xfrm>
          <a:off x="4567861" y="2896181"/>
          <a:ext cx="7350778" cy="4020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5389">
                  <a:extLst>
                    <a:ext uri="{9D8B030D-6E8A-4147-A177-3AD203B41FA5}">
                      <a16:colId xmlns:a16="http://schemas.microsoft.com/office/drawing/2014/main" val="1852633696"/>
                    </a:ext>
                  </a:extLst>
                </a:gridCol>
                <a:gridCol w="3675389">
                  <a:extLst>
                    <a:ext uri="{9D8B030D-6E8A-4147-A177-3AD203B41FA5}">
                      <a16:colId xmlns:a16="http://schemas.microsoft.com/office/drawing/2014/main" val="2245092209"/>
                    </a:ext>
                  </a:extLst>
                </a:gridCol>
              </a:tblGrid>
              <a:tr h="467544">
                <a:tc>
                  <a:txBody>
                    <a:bodyPr/>
                    <a:lstStyle/>
                    <a:p>
                      <a:r>
                        <a:rPr lang="en-US" dirty="0"/>
                        <a:t>Method 1: Using LLM to </a:t>
                      </a:r>
                      <a:r>
                        <a:rPr lang="en-US" dirty="0" err="1"/>
                        <a:t>rerank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2: Using Cross Encoder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726521"/>
                  </a:ext>
                </a:extLst>
              </a:tr>
              <a:tr h="35534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98185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D4A4CA0-C4BF-05BF-DE5C-F9CA13CE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15. </a:t>
            </a:r>
            <a:r>
              <a:rPr lang="en-US" sz="3200" dirty="0" err="1"/>
              <a:t>Reranker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5523A-556A-B841-99E1-04A35073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6" r="33201"/>
          <a:stretch>
            <a:fillRect/>
          </a:stretch>
        </p:blipFill>
        <p:spPr>
          <a:xfrm>
            <a:off x="53787" y="1101703"/>
            <a:ext cx="1580547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DCEDB2-34E1-2E11-0F58-D31E13E154D0}"/>
              </a:ext>
            </a:extLst>
          </p:cNvPr>
          <p:cNvSpPr txBox="1"/>
          <p:nvPr/>
        </p:nvSpPr>
        <p:spPr>
          <a:xfrm>
            <a:off x="3624500" y="571231"/>
            <a:ext cx="10077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After initial retrieval, apply </a:t>
            </a:r>
            <a:r>
              <a:rPr lang="en-US" sz="2000" b="1" i="1" dirty="0" err="1">
                <a:solidFill>
                  <a:srgbClr val="C00000"/>
                </a:solidFill>
              </a:rPr>
              <a:t>Reranker</a:t>
            </a:r>
            <a:r>
              <a:rPr lang="en-US" sz="2000" b="1" i="1" dirty="0">
                <a:solidFill>
                  <a:srgbClr val="0000FF"/>
                </a:solidFill>
              </a:rPr>
              <a:t> to rearrange the retrieved chunks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90AB72-8CA0-DB89-8894-14018BEA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945" y="3803970"/>
            <a:ext cx="2064394" cy="24827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1AF302-7F83-2175-A7CB-1BE623B65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873" y="3539857"/>
            <a:ext cx="2269167" cy="3213256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E9E69BB-85E7-929B-8FD2-7F96EBEEB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8168"/>
              </p:ext>
            </p:extLst>
          </p:nvPr>
        </p:nvGraphicFramePr>
        <p:xfrm>
          <a:off x="2114291" y="1315021"/>
          <a:ext cx="9892896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536">
                  <a:extLst>
                    <a:ext uri="{9D8B030D-6E8A-4147-A177-3AD203B41FA5}">
                      <a16:colId xmlns:a16="http://schemas.microsoft.com/office/drawing/2014/main" val="1668157285"/>
                    </a:ext>
                  </a:extLst>
                </a:gridCol>
                <a:gridCol w="3028692">
                  <a:extLst>
                    <a:ext uri="{9D8B030D-6E8A-4147-A177-3AD203B41FA5}">
                      <a16:colId xmlns:a16="http://schemas.microsoft.com/office/drawing/2014/main" val="1230235615"/>
                    </a:ext>
                  </a:extLst>
                </a:gridCol>
                <a:gridCol w="2341857">
                  <a:extLst>
                    <a:ext uri="{9D8B030D-6E8A-4147-A177-3AD203B41FA5}">
                      <a16:colId xmlns:a16="http://schemas.microsoft.com/office/drawing/2014/main" val="125652281"/>
                    </a:ext>
                  </a:extLst>
                </a:gridCol>
                <a:gridCol w="2821811">
                  <a:extLst>
                    <a:ext uri="{9D8B030D-6E8A-4147-A177-3AD203B41FA5}">
                      <a16:colId xmlns:a16="http://schemas.microsoft.com/office/drawing/2014/main" val="2072491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How it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8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LLM-based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LLM to rate each document 1-10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Slow (one LLM call per doc)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(leverages LLM reasoning)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370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Cross-Encoder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Feed (query, doc) pairs into a specialized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(trained specifically for relevance)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429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59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9F92-D599-CFF3-AC6B-741A7E86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ABC5-B122-DEFC-9178-43403DB9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16. Adaptive RAG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C0231-DA38-69AB-5FCF-6F066601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6" r="33201"/>
          <a:stretch>
            <a:fillRect/>
          </a:stretch>
        </p:blipFill>
        <p:spPr>
          <a:xfrm>
            <a:off x="53787" y="1101703"/>
            <a:ext cx="1580547" cy="3139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39EA5-F16C-437E-A61B-96A0DF1BA275}"/>
              </a:ext>
            </a:extLst>
          </p:cNvPr>
          <p:cNvSpPr txBox="1"/>
          <p:nvPr/>
        </p:nvSpPr>
        <p:spPr>
          <a:xfrm>
            <a:off x="2726650" y="981565"/>
            <a:ext cx="10077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**Adaptive RAG** first classifies the query, then picks the right strategy.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072EAF-1D2C-901E-27D2-F544F2523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75500"/>
              </p:ext>
            </p:extLst>
          </p:nvPr>
        </p:nvGraphicFramePr>
        <p:xfrm>
          <a:off x="1746509" y="1547176"/>
          <a:ext cx="10325502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012">
                  <a:extLst>
                    <a:ext uri="{9D8B030D-6E8A-4147-A177-3AD203B41FA5}">
                      <a16:colId xmlns:a16="http://schemas.microsoft.com/office/drawing/2014/main" val="2431501945"/>
                    </a:ext>
                  </a:extLst>
                </a:gridCol>
                <a:gridCol w="4220308">
                  <a:extLst>
                    <a:ext uri="{9D8B030D-6E8A-4147-A177-3AD203B41FA5}">
                      <a16:colId xmlns:a16="http://schemas.microsoft.com/office/drawing/2014/main" val="1333273166"/>
                    </a:ext>
                  </a:extLst>
                </a:gridCol>
                <a:gridCol w="4467182">
                  <a:extLst>
                    <a:ext uri="{9D8B030D-6E8A-4147-A177-3AD203B41FA5}">
                      <a16:colId xmlns:a16="http://schemas.microsoft.com/office/drawing/2014/main" val="306902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Query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7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Factual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"What is the distance to the Sun?"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Enhance the query for precision, then rank by 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85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Analytical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"How does distance from the Sun affect climate?"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Break into sub-questions, retrieve broadly, select diverse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51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Opinion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"What are theories about the origin of life?"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 multiple viewpoints, ensure diversity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602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Contextual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"How does Earth's position affect habitability?"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Incorporate user context, personalize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69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185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910C65-F7A8-4AB1-8CE3-0DB5B59F9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453" y="0"/>
            <a:ext cx="9041595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ACDDC1-A229-9679-8967-7FF06B0D2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16. Adaptive RAG</a:t>
            </a:r>
          </a:p>
        </p:txBody>
      </p:sp>
    </p:spTree>
    <p:extLst>
      <p:ext uri="{BB962C8B-B14F-4D97-AF65-F5344CB8AC3E}">
        <p14:creationId xmlns:p14="http://schemas.microsoft.com/office/powerpoint/2010/main" val="2294662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00F5-C24E-4FBB-3274-BA037BC9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RAG</a:t>
            </a:r>
          </a:p>
        </p:txBody>
      </p:sp>
      <p:pic>
        <p:nvPicPr>
          <p:cNvPr id="13314" name="Picture 2" descr="Multimodal Text Poster for Kinder, First, and Second Grade">
            <a:extLst>
              <a:ext uri="{FF2B5EF4-FFF2-40B4-BE49-F238E27FC236}">
                <a16:creationId xmlns:a16="http://schemas.microsoft.com/office/drawing/2014/main" id="{F1157186-72D8-C41F-F44D-0D92B95C8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699" y="2222083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808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9C43-527E-2F2F-7409-915850EB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0ADD-D351-0966-9047-149E3EF0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17. Multimodal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E8A72-FD71-CBDC-C2A5-8190AFE9D7BA}"/>
              </a:ext>
            </a:extLst>
          </p:cNvPr>
          <p:cNvSpPr txBox="1"/>
          <p:nvPr/>
        </p:nvSpPr>
        <p:spPr>
          <a:xfrm>
            <a:off x="5920842" y="981565"/>
            <a:ext cx="6883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Embed both Texts and Images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CDF6D8-B735-297A-F0DB-1AB86F150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924322"/>
              </p:ext>
            </p:extLst>
          </p:nvPr>
        </p:nvGraphicFramePr>
        <p:xfrm>
          <a:off x="1958192" y="1824393"/>
          <a:ext cx="98007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372">
                  <a:extLst>
                    <a:ext uri="{9D8B030D-6E8A-4147-A177-3AD203B41FA5}">
                      <a16:colId xmlns:a16="http://schemas.microsoft.com/office/drawing/2014/main" val="1196307721"/>
                    </a:ext>
                  </a:extLst>
                </a:gridCol>
                <a:gridCol w="6177372">
                  <a:extLst>
                    <a:ext uri="{9D8B030D-6E8A-4147-A177-3AD203B41FA5}">
                      <a16:colId xmlns:a16="http://schemas.microsoft.com/office/drawing/2014/main" val="2040427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Multi-Modal 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32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 text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 text </a:t>
                      </a:r>
                      <a:r>
                        <a:rPr lang="en-US" b="1" dirty="0"/>
                        <a:t>+ images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347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Images are ignored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Images are </a:t>
                      </a:r>
                      <a:r>
                        <a:rPr lang="en-US" b="1" dirty="0"/>
                        <a:t>captioned by a vision model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37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Vector store has text chunks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Vector store has text chunks </a:t>
                      </a:r>
                      <a:r>
                        <a:rPr lang="en-US" b="1" dirty="0"/>
                        <a:t>+ image captions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44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917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817F-5FCA-C4BA-4D80-6DAA773A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9E8F-502A-8A45-B05B-F803C990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38" y="104887"/>
            <a:ext cx="11572787" cy="932688"/>
          </a:xfrm>
        </p:spPr>
        <p:txBody>
          <a:bodyPr>
            <a:normAutofit/>
          </a:bodyPr>
          <a:lstStyle/>
          <a:p>
            <a:r>
              <a:rPr lang="en-US" sz="3200" dirty="0"/>
              <a:t>18. RAG Evaluation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8FFF4-CC16-EB7A-BE90-5584AECCD31F}"/>
              </a:ext>
            </a:extLst>
          </p:cNvPr>
          <p:cNvSpPr txBox="1"/>
          <p:nvPr/>
        </p:nvSpPr>
        <p:spPr>
          <a:xfrm>
            <a:off x="4861628" y="1154142"/>
            <a:ext cx="6883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RAGAS = RAG + </a:t>
            </a:r>
            <a:r>
              <a:rPr lang="en-US" sz="2000" b="1" i="1" dirty="0" err="1">
                <a:solidFill>
                  <a:srgbClr val="0000FF"/>
                </a:solidFill>
              </a:rPr>
              <a:t>AS</a:t>
            </a:r>
            <a:r>
              <a:rPr lang="en-US" sz="2000" b="1" i="1" dirty="0" err="1"/>
              <a:t>sement</a:t>
            </a:r>
            <a:endParaRPr lang="en-US" sz="2000" b="1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019174-3866-1F63-F861-BB6E531CF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92081"/>
              </p:ext>
            </p:extLst>
          </p:nvPr>
        </p:nvGraphicFramePr>
        <p:xfrm>
          <a:off x="114586" y="1670820"/>
          <a:ext cx="11938116" cy="1951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539">
                  <a:extLst>
                    <a:ext uri="{9D8B030D-6E8A-4147-A177-3AD203B41FA5}">
                      <a16:colId xmlns:a16="http://schemas.microsoft.com/office/drawing/2014/main" val="867866902"/>
                    </a:ext>
                  </a:extLst>
                </a:gridCol>
                <a:gridCol w="7643528">
                  <a:extLst>
                    <a:ext uri="{9D8B030D-6E8A-4147-A177-3AD203B41FA5}">
                      <a16:colId xmlns:a16="http://schemas.microsoft.com/office/drawing/2014/main" val="2434889208"/>
                    </a:ext>
                  </a:extLst>
                </a:gridCol>
                <a:gridCol w="1746049">
                  <a:extLst>
                    <a:ext uri="{9D8B030D-6E8A-4147-A177-3AD203B41FA5}">
                      <a16:colId xmlns:a16="http://schemas.microsoft.com/office/drawing/2014/main" val="413666272"/>
                    </a:ext>
                  </a:extLst>
                </a:gridCol>
              </a:tblGrid>
              <a:tr h="30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measures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Score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210704"/>
                  </a:ext>
                </a:extLst>
              </a:tr>
              <a:tr h="528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Answer Correctness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 the answer factually correct compared to the ground truth?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to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274244"/>
                  </a:ext>
                </a:extLst>
              </a:tr>
              <a:tr h="528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Faithfulness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 the answer grounded in the retrieved context (no hallucination)?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to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906989"/>
                  </a:ext>
                </a:extLst>
              </a:tr>
              <a:tr h="528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 Precision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Are the retrieved chunks actually relevant and well-ranked?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 to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191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63ACB5-3965-F671-4F1D-AD91A12A77C3}"/>
              </a:ext>
            </a:extLst>
          </p:cNvPr>
          <p:cNvSpPr txBox="1"/>
          <p:nvPr/>
        </p:nvSpPr>
        <p:spPr>
          <a:xfrm>
            <a:off x="520297" y="4396043"/>
            <a:ext cx="109945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ragas import evaluate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ragas.metrics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faithfulness,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answer_correctness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context_precision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ragas.llms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LangchainLLMWrapper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ragas.embeddings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LangchainEmbeddingsWrapper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605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CCC2-D940-F115-6FC8-5B0A9BFB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837963C-1285-0166-ECE7-F0A2FB719163}"/>
              </a:ext>
            </a:extLst>
          </p:cNvPr>
          <p:cNvSpPr txBox="1">
            <a:spLocks/>
          </p:cNvSpPr>
          <p:nvPr/>
        </p:nvSpPr>
        <p:spPr>
          <a:xfrm>
            <a:off x="372338" y="104887"/>
            <a:ext cx="11572787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19. Graph - RAG</a:t>
            </a: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E9CDE-F87C-41E7-02D8-24F5A95F8CA7}"/>
              </a:ext>
            </a:extLst>
          </p:cNvPr>
          <p:cNvSpPr txBox="1"/>
          <p:nvPr/>
        </p:nvSpPr>
        <p:spPr>
          <a:xfrm>
            <a:off x="4088801" y="531538"/>
            <a:ext cx="8910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Build a knowledge Graph: chunk is a node, semantic concept is edge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92792B-1B6C-B870-4351-37B7BCFA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119" y="969770"/>
            <a:ext cx="7795157" cy="5811429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D4F1422-A2B0-6E23-FA2F-77912BD46252}"/>
              </a:ext>
            </a:extLst>
          </p:cNvPr>
          <p:cNvSpPr/>
          <p:nvPr/>
        </p:nvSpPr>
        <p:spPr>
          <a:xfrm>
            <a:off x="248254" y="1170930"/>
            <a:ext cx="2896290" cy="1249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Node = chunk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Extract NER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Key concept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A25882-5EA6-2A80-D119-80D12C96FBE1}"/>
              </a:ext>
            </a:extLst>
          </p:cNvPr>
          <p:cNvCxnSpPr>
            <a:cxnSpLocks/>
            <a:endCxn id="18" idx="6"/>
          </p:cNvCxnSpPr>
          <p:nvPr/>
        </p:nvCxnSpPr>
        <p:spPr>
          <a:xfrm flipH="1" flipV="1">
            <a:off x="3144544" y="1795701"/>
            <a:ext cx="1733635" cy="64545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858CBB-0D87-3249-BBEA-B03B4AF15E4D}"/>
              </a:ext>
            </a:extLst>
          </p:cNvPr>
          <p:cNvSpPr/>
          <p:nvPr/>
        </p:nvSpPr>
        <p:spPr>
          <a:xfrm>
            <a:off x="628907" y="2808099"/>
            <a:ext cx="2428746" cy="831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 =  semantic </a:t>
            </a:r>
            <a:r>
              <a:rPr lang="en-US" dirty="0" err="1"/>
              <a:t>similarity+concept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CE77D3-C53E-547B-90BA-4E7327398FBA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3057653" y="3178597"/>
            <a:ext cx="2788714" cy="453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BF368A-A868-F85E-9BC8-70036E27D98D}"/>
              </a:ext>
            </a:extLst>
          </p:cNvPr>
          <p:cNvSpPr txBox="1"/>
          <p:nvPr/>
        </p:nvSpPr>
        <p:spPr>
          <a:xfrm>
            <a:off x="119989" y="4377187"/>
            <a:ext cx="3798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Starting from strongest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LLM to ask if the node match the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not, traverse to the neighbor’s node with strongest edge weights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C89BD1-8627-A676-59AB-08C5B1F27020}"/>
              </a:ext>
            </a:extLst>
          </p:cNvPr>
          <p:cNvCxnSpPr>
            <a:cxnSpLocks/>
            <a:endCxn id="32" idx="3"/>
          </p:cNvCxnSpPr>
          <p:nvPr/>
        </p:nvCxnSpPr>
        <p:spPr>
          <a:xfrm flipH="1">
            <a:off x="3918267" y="2888364"/>
            <a:ext cx="4203757" cy="2365986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25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0930-1BA2-C725-8A11-39156A91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6DEB26-2532-63C8-21BA-1BCCBFEEBDCA}"/>
              </a:ext>
            </a:extLst>
          </p:cNvPr>
          <p:cNvSpPr txBox="1">
            <a:spLocks/>
          </p:cNvSpPr>
          <p:nvPr/>
        </p:nvSpPr>
        <p:spPr>
          <a:xfrm>
            <a:off x="372338" y="104887"/>
            <a:ext cx="11572787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20. Self-RAG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E6EFC-6EFC-2727-2098-A5CB378C3E6E}"/>
              </a:ext>
            </a:extLst>
          </p:cNvPr>
          <p:cNvSpPr txBox="1"/>
          <p:nvPr/>
        </p:nvSpPr>
        <p:spPr>
          <a:xfrm>
            <a:off x="1819374" y="1433526"/>
            <a:ext cx="8910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Instead of blindly retrieving, Self-RAG asks itself series of question at each step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AC44EC-1D7D-F40D-45D8-FB90C9D3A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092398"/>
              </p:ext>
            </p:extLst>
          </p:nvPr>
        </p:nvGraphicFramePr>
        <p:xfrm>
          <a:off x="1489980" y="2076785"/>
          <a:ext cx="9569708" cy="3515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950">
                  <a:extLst>
                    <a:ext uri="{9D8B030D-6E8A-4147-A177-3AD203B41FA5}">
                      <a16:colId xmlns:a16="http://schemas.microsoft.com/office/drawing/2014/main" val="1389052852"/>
                    </a:ext>
                  </a:extLst>
                </a:gridCol>
                <a:gridCol w="6098758">
                  <a:extLst>
                    <a:ext uri="{9D8B030D-6E8A-4147-A177-3AD203B41FA5}">
                      <a16:colId xmlns:a16="http://schemas.microsoft.com/office/drawing/2014/main" val="664517322"/>
                    </a:ext>
                  </a:extLst>
                </a:gridCol>
              </a:tblGrid>
              <a:tr h="380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Question the system asks itself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415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 </a:t>
                      </a:r>
                      <a:r>
                        <a:rPr lang="en-US" b="1"/>
                        <a:t>Retrieval Decision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"Do I even </a:t>
                      </a:r>
                      <a:r>
                        <a:rPr lang="en-US" i="1"/>
                        <a:t>need</a:t>
                      </a:r>
                      <a:r>
                        <a:rPr lang="en-US"/>
                        <a:t> to retrieve documents for this query?"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27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 </a:t>
                      </a:r>
                      <a:r>
                        <a:rPr lang="en-US" b="1"/>
                        <a:t>Document Retrieval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Fetch top-k similar documents from the vector store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3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</a:t>
                      </a:r>
                      <a:r>
                        <a:rPr lang="en-US" b="1" dirty="0"/>
                        <a:t>Relevance Check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"Is each retrieved document actually </a:t>
                      </a:r>
                      <a:r>
                        <a:rPr lang="en-US" i="1"/>
                        <a:t>relevant</a:t>
                      </a:r>
                      <a:r>
                        <a:rPr lang="en-US"/>
                        <a:t> to the query?"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05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 </a:t>
                      </a:r>
                      <a:r>
                        <a:rPr lang="en-US" b="1"/>
                        <a:t>Response Generation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a response for each relevant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4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 </a:t>
                      </a:r>
                      <a:r>
                        <a:rPr lang="en-US" b="1"/>
                        <a:t>Support Assessment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"Is my response </a:t>
                      </a:r>
                      <a:r>
                        <a:rPr lang="en-US" i="1"/>
                        <a:t>supported</a:t>
                      </a:r>
                      <a:r>
                        <a:rPr lang="en-US"/>
                        <a:t> by the context, or did I hallucinate?"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4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 </a:t>
                      </a:r>
                      <a:r>
                        <a:rPr lang="en-US" b="1"/>
                        <a:t>Utility Evaluation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"How </a:t>
                      </a:r>
                      <a:r>
                        <a:rPr lang="en-US" i="1"/>
                        <a:t>useful</a:t>
                      </a:r>
                      <a:r>
                        <a:rPr lang="en-US"/>
                        <a:t> is this response to the user?" (1–5 score)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39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 </a:t>
                      </a:r>
                      <a:r>
                        <a:rPr lang="en-US" b="1"/>
                        <a:t>Best Response Selection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Pick the response with the best support + utility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65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43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8570-33BF-DF77-6033-34523C67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A20912-4D58-D188-B162-A838AA9CAC94}"/>
              </a:ext>
            </a:extLst>
          </p:cNvPr>
          <p:cNvSpPr txBox="1">
            <a:spLocks/>
          </p:cNvSpPr>
          <p:nvPr/>
        </p:nvSpPr>
        <p:spPr>
          <a:xfrm>
            <a:off x="372338" y="104887"/>
            <a:ext cx="11572787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21. C-RAG (dynamic Correction)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DAB1B-33C4-E2ED-4773-D3C97DEB029D}"/>
              </a:ext>
            </a:extLst>
          </p:cNvPr>
          <p:cNvSpPr txBox="1"/>
          <p:nvPr/>
        </p:nvSpPr>
        <p:spPr>
          <a:xfrm>
            <a:off x="1819374" y="1433526"/>
            <a:ext cx="8910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CRAG extends RAG by evaluating whether retrieved docs are useful and correcting the approach if they are not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F5672C-6FBE-F504-3C47-5879C5CAA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49494"/>
              </p:ext>
            </p:extLst>
          </p:nvPr>
        </p:nvGraphicFramePr>
        <p:xfrm>
          <a:off x="1021977" y="2916708"/>
          <a:ext cx="10128738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353">
                  <a:extLst>
                    <a:ext uri="{9D8B030D-6E8A-4147-A177-3AD203B41FA5}">
                      <a16:colId xmlns:a16="http://schemas.microsoft.com/office/drawing/2014/main" val="2845323104"/>
                    </a:ext>
                  </a:extLst>
                </a:gridCol>
                <a:gridCol w="4111468">
                  <a:extLst>
                    <a:ext uri="{9D8B030D-6E8A-4147-A177-3AD203B41FA5}">
                      <a16:colId xmlns:a16="http://schemas.microsoft.com/office/drawing/2014/main" val="2308108426"/>
                    </a:ext>
                  </a:extLst>
                </a:gridCol>
                <a:gridCol w="3465917">
                  <a:extLst>
                    <a:ext uri="{9D8B030D-6E8A-4147-A177-3AD203B41FA5}">
                      <a16:colId xmlns:a16="http://schemas.microsoft.com/office/drawing/2014/main" val="973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Relevance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</a:t>
                      </a:r>
                      <a:r>
                        <a:rPr lang="en-US"/>
                        <a:t> (&gt; 0.7)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the retrieved document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knowledge 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86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Low</a:t>
                      </a:r>
                      <a:r>
                        <a:rPr lang="en-US"/>
                        <a:t> (&lt; 0.3)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Discard documents, do a </a:t>
                      </a:r>
                      <a:r>
                        <a:rPr lang="en-US" b="1"/>
                        <a:t>web search</a:t>
                      </a:r>
                      <a:r>
                        <a:rPr lang="en-US"/>
                        <a:t> instead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9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</a:t>
                      </a:r>
                      <a:r>
                        <a:rPr lang="en-US"/>
                        <a:t> (0.3–0.7)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retrieved document </a:t>
                      </a:r>
                      <a:r>
                        <a:rPr lang="en-US" b="1"/>
                        <a:t>+</a:t>
                      </a:r>
                      <a:r>
                        <a:rPr lang="en-US"/>
                        <a:t> web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450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408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F279-EE29-BD2A-0B39-FFC013C2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C3023D-05DB-4A7E-BB6B-21FB0DEFDEF4}"/>
              </a:ext>
            </a:extLst>
          </p:cNvPr>
          <p:cNvSpPr txBox="1">
            <a:spLocks/>
          </p:cNvSpPr>
          <p:nvPr/>
        </p:nvSpPr>
        <p:spPr>
          <a:xfrm>
            <a:off x="372338" y="104887"/>
            <a:ext cx="11572787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22. Multimodal RAG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6E9EEE-864D-0F7D-8375-8D47749D4F27}"/>
              </a:ext>
            </a:extLst>
          </p:cNvPr>
          <p:cNvSpPr txBox="1"/>
          <p:nvPr/>
        </p:nvSpPr>
        <p:spPr>
          <a:xfrm>
            <a:off x="1819374" y="1433526"/>
            <a:ext cx="8910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solidFill>
                  <a:srgbClr val="0000FF"/>
                </a:solidFill>
              </a:rPr>
              <a:t>Docling</a:t>
            </a:r>
            <a:r>
              <a:rPr lang="en-US" sz="2000" b="1" i="1" dirty="0">
                <a:solidFill>
                  <a:srgbClr val="0000FF"/>
                </a:solidFill>
              </a:rPr>
              <a:t> + Fusion + </a:t>
            </a:r>
            <a:r>
              <a:rPr lang="en-US" sz="2000" b="1" i="1" dirty="0" err="1">
                <a:solidFill>
                  <a:srgbClr val="0000FF"/>
                </a:solidFill>
              </a:rPr>
              <a:t>Reranker</a:t>
            </a:r>
            <a:endParaRPr lang="en-US" sz="2000" b="1" i="1" dirty="0">
              <a:solidFill>
                <a:srgbClr val="0000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68EF00-FFE5-FC6B-F386-67C6D5BA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973864"/>
              </p:ext>
            </p:extLst>
          </p:nvPr>
        </p:nvGraphicFramePr>
        <p:xfrm>
          <a:off x="1021977" y="2916708"/>
          <a:ext cx="10161838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613">
                  <a:extLst>
                    <a:ext uri="{9D8B030D-6E8A-4147-A177-3AD203B41FA5}">
                      <a16:colId xmlns:a16="http://schemas.microsoft.com/office/drawing/2014/main" val="2845323104"/>
                    </a:ext>
                  </a:extLst>
                </a:gridCol>
                <a:gridCol w="7669225">
                  <a:extLst>
                    <a:ext uri="{9D8B030D-6E8A-4147-A177-3AD203B41FA5}">
                      <a16:colId xmlns:a16="http://schemas.microsoft.com/office/drawing/2014/main" val="2308108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Docling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 Text, Image, Table separately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Image is analyzed by Vision Transformer model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Table is converted to markdown, convenient for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86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Fusion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Combine keyword search + semantic search for wider coverage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9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Reranker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 encoder </a:t>
                      </a:r>
                      <a:r>
                        <a:rPr lang="en-US" dirty="0" err="1"/>
                        <a:t>reranker</a:t>
                      </a:r>
                      <a:r>
                        <a:rPr lang="en-US" dirty="0"/>
                        <a:t> faster than  LLM </a:t>
                      </a:r>
                      <a:r>
                        <a:rPr lang="en-US" dirty="0" err="1"/>
                        <a:t>reranker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450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57103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A2E174-8201-44C8-8E86-D532E6482A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7CFCFE-9E11-486F-94A1-AD5EF62DEC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{45781AE1-61C4-41F4-88FA-A0307D2BC7DB}9db5ba7a-f6a8-423e-8130-f3099013613b-TF6f351658-02aa-4255-a406-604a46294ca9_win32</Template>
  <TotalTime>4589</TotalTime>
  <Words>1712</Words>
  <Application>Microsoft Office PowerPoint</Application>
  <PresentationFormat>Widescreen</PresentationFormat>
  <Paragraphs>320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Courier New</vt:lpstr>
      <vt:lpstr>Neue Haas Grotesk Text Pro</vt:lpstr>
      <vt:lpstr>Neue Haas Grotesk Text Pro (Body)</vt:lpstr>
      <vt:lpstr>Helena</vt:lpstr>
      <vt:lpstr>PowerPoint Presentation</vt:lpstr>
      <vt:lpstr>Agenda</vt:lpstr>
      <vt:lpstr>RAG</vt:lpstr>
      <vt:lpstr>PowerPoint Presentation</vt:lpstr>
      <vt:lpstr>Disadvantage of simple RAG</vt:lpstr>
      <vt:lpstr>Advanced RAG</vt:lpstr>
      <vt:lpstr>Simple RAGs Technique</vt:lpstr>
      <vt:lpstr>1. Simple RAG</vt:lpstr>
      <vt:lpstr>2. Simple RAG for CSV tabular</vt:lpstr>
      <vt:lpstr>3. Reliable RAG</vt:lpstr>
      <vt:lpstr>3. Reliable RAG</vt:lpstr>
      <vt:lpstr>Query</vt:lpstr>
      <vt:lpstr>4. Query Transformation</vt:lpstr>
      <vt:lpstr>5. Hypothetical Document Embedding (HyDE)</vt:lpstr>
      <vt:lpstr>6. Hypothetical Prompt Embedding (HyPE)</vt:lpstr>
      <vt:lpstr>All about CHUNKS</vt:lpstr>
      <vt:lpstr>7. Proposition Chunking</vt:lpstr>
      <vt:lpstr>8. Contextual Chunk Headers (CCH)</vt:lpstr>
      <vt:lpstr>9. Relevant Segment Extraction (RSE)</vt:lpstr>
      <vt:lpstr>10. Context Enrichment Window (CEW)</vt:lpstr>
      <vt:lpstr>11. Semantic chunking</vt:lpstr>
      <vt:lpstr>Retrieval</vt:lpstr>
      <vt:lpstr>12. Contextual Retrieval</vt:lpstr>
      <vt:lpstr>13. Document Augmentation through Question Generation</vt:lpstr>
      <vt:lpstr>14. Fusion Retrieval</vt:lpstr>
      <vt:lpstr>15. Reranker</vt:lpstr>
      <vt:lpstr>16. Adaptive RAG</vt:lpstr>
      <vt:lpstr>16. Adaptive RAG</vt:lpstr>
      <vt:lpstr>Advanced RAG</vt:lpstr>
      <vt:lpstr>17. Multimodal RAG</vt:lpstr>
      <vt:lpstr>18. RAG Evaluation metrics</vt:lpstr>
      <vt:lpstr>PowerPoint Presentation</vt:lpstr>
      <vt:lpstr>PowerPoint Presentation</vt:lpstr>
      <vt:lpstr>PowerPoint Presentation</vt:lpstr>
      <vt:lpstr>PowerPoint Presentation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Vu, Tue</dc:creator>
  <cp:lastModifiedBy>Vu, Tue</cp:lastModifiedBy>
  <cp:revision>16</cp:revision>
  <dcterms:created xsi:type="dcterms:W3CDTF">2026-02-20T22:14:24Z</dcterms:created>
  <dcterms:modified xsi:type="dcterms:W3CDTF">2026-04-08T22:30:11Z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